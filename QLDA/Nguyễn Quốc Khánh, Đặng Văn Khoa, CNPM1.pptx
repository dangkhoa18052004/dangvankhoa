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68" r:id="rId5"/>
    <p:sldId id="276" r:id="rId6"/>
    <p:sldId id="274" r:id="rId7"/>
    <p:sldId id="277" r:id="rId8"/>
    <p:sldId id="271" r:id="rId9"/>
    <p:sldId id="269" r:id="rId10"/>
    <p:sldId id="270" r:id="rId11"/>
    <p:sldId id="272" r:id="rId12"/>
    <p:sldId id="278" r:id="rId13"/>
    <p:sldId id="279" r:id="rId14"/>
    <p:sldId id="260" r:id="rId15"/>
    <p:sldId id="261" r:id="rId16"/>
    <p:sldId id="262" r:id="rId17"/>
    <p:sldId id="263" r:id="rId18"/>
    <p:sldId id="267" r:id="rId19"/>
    <p:sldId id="273" r:id="rId20"/>
    <p:sldId id="264" r:id="rId21"/>
    <p:sldId id="265" r:id="rId22"/>
  </p:sldIdLst>
  <p:sldSz cx="14630400" cy="8229600"/>
  <p:notesSz cx="8229600" cy="14630400"/>
  <p:embeddedFontLst>
    <p:embeddedFont>
      <p:font typeface="Bitter Medium" panose="020B0604020202020204" charset="0"/>
      <p:regular r:id="rId24"/>
    </p:embeddedFont>
    <p:embeddedFont>
      <p:font typeface="Calibri" panose="020F0502020204030204" pitchFamily="34"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6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937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7EB1-2B62-EB56-B2DB-1FFCC850E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DE9CB4-2EF6-C337-7D9D-A43A80B46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5D4DB-D476-4D6C-7F3B-ECF0B9B3E9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A34C3-9B95-09D4-03CE-D79D30DA436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43262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5BDFA-DA31-D995-E8D0-6A2463A6F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6C11B-C0E5-23CD-E26A-0E9ED7FAA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52BF8-01EC-1AD2-5A26-2ACC23D890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BD2B82-7C30-E12E-6744-2CEE1149CAC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17695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9235C-D7A2-6ACB-1C11-F9C536E649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44A70-91E5-FE56-4AD7-CDC0587487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9149EF-13EC-B6AB-839B-0D9BA3F318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5F570B-2236-91CB-7EC2-06C72E8E22A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9753613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F18A4-B3B1-C420-5257-BF1CD67728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1D7C6-94AD-F002-0FCD-ADC963541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E655F-A145-1B7C-6496-A7BF30A318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D37055-74F6-9B27-0418-C92917594676}"/>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130734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92DAB-0DDD-3C22-ADA9-63A9EBD83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75FF1-569C-537D-4E80-0558FE7DD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E2651-C84C-2F3C-925E-DA661EC647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1F9D2E-6B36-8AB5-CA19-C90AC369F9D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979148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132A2-FBB7-01AF-BA6C-683D73623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D19EB-3138-2FB1-B623-AD3A39D916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8E628-3231-F1EF-42D9-FB78D78A29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F59755-AC9E-5686-8E10-2EEAB0BD1E4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781100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0D098-4C75-3328-F99C-2DC0E1949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9D594-70F3-7F24-5885-5340A3CB6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E44B8-5B18-3C41-B664-0EB5619228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D7BFD9-95EB-5723-3E8B-2915EC37493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49756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8906B-00F4-EAB2-4786-86478BF6E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3220F-7149-FD57-7BCD-1BF1562AE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3E5C5-0586-4012-BFF4-FF7FC94601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6D61C0-2AD2-E438-48F6-FB0F711020C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77029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6D549-B8E1-EAF4-5CF2-0004676CCF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C02EB-E2CC-335D-72F6-57D251253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A36CF-347D-D2AE-15CF-DD02F2C86C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426FCE-2BC9-061F-5EF6-B2C70A42612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680777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CCFB9-9AEA-E91D-E740-CE2923A6D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73353-52E7-5229-2239-2C6D053D3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69E42-7ADD-42A3-6219-BCC5FB08A4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E0BA9C-8D4C-D58C-A225-5DCC2D8FA7D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8893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US"/>
          </a:p>
        </p:txBody>
      </p:sp>
      <p:sp>
        <p:nvSpPr>
          <p:cNvPr id="3" name="Shape 1"/>
          <p:cNvSpPr/>
          <p:nvPr/>
        </p:nvSpPr>
        <p:spPr>
          <a:xfrm>
            <a:off x="0" y="0"/>
            <a:ext cx="14630400" cy="8229600"/>
          </a:xfrm>
          <a:prstGeom prst="rect">
            <a:avLst/>
          </a:prstGeom>
          <a:solidFill>
            <a:srgbClr val="FFF8F0"/>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txBody>
          <a:bodyPr/>
          <a:lstStyle/>
          <a:p>
            <a:endParaRPr lang="en-US"/>
          </a:p>
        </p:txBody>
      </p:sp>
      <p:sp>
        <p:nvSpPr>
          <p:cNvPr id="4" name="Text 1"/>
          <p:cNvSpPr/>
          <p:nvPr/>
        </p:nvSpPr>
        <p:spPr>
          <a:xfrm>
            <a:off x="793790" y="156119"/>
            <a:ext cx="13042821" cy="3802564"/>
          </a:xfrm>
          <a:prstGeom prst="rect">
            <a:avLst/>
          </a:prstGeom>
          <a:noFill/>
          <a:ln/>
        </p:spPr>
        <p:txBody>
          <a:bodyPr wrap="square" lIns="0" tIns="0" rIns="0" bIns="0" rtlCol="0" anchor="t"/>
          <a:lstStyle/>
          <a:p>
            <a:pPr marL="0" indent="0" algn="l">
              <a:lnSpc>
                <a:spcPts val="16700"/>
              </a:lnSpc>
              <a:buNone/>
            </a:pPr>
            <a:r>
              <a:rPr lang="en-US" sz="13350" dirty="0">
                <a:solidFill>
                  <a:srgbClr val="2C3F42"/>
                </a:solidFill>
                <a:latin typeface="Bitter Medium" pitchFamily="34" charset="0"/>
                <a:ea typeface="Bitter Medium" pitchFamily="34" charset="-122"/>
                <a:cs typeface="Bitter Medium" pitchFamily="34" charset="-120"/>
              </a:rPr>
              <a:t>Trang Web Bán Vé Xe Khách</a:t>
            </a:r>
            <a:endParaRPr lang="en-US" sz="13350" dirty="0"/>
          </a:p>
        </p:txBody>
      </p:sp>
      <p:sp>
        <p:nvSpPr>
          <p:cNvPr id="5" name="Text 2"/>
          <p:cNvSpPr/>
          <p:nvPr/>
        </p:nvSpPr>
        <p:spPr>
          <a:xfrm>
            <a:off x="2511078" y="4215166"/>
            <a:ext cx="9286912" cy="669072"/>
          </a:xfrm>
          <a:prstGeom prst="rect">
            <a:avLst/>
          </a:prstGeom>
          <a:noFill/>
          <a:ln/>
        </p:spPr>
        <p:txBody>
          <a:bodyPr wrap="none" lIns="0" tIns="0" rIns="0" bIns="0" rtlCol="0" anchor="t"/>
          <a:lstStyle/>
          <a:p>
            <a:pPr marL="0" indent="0" algn="l">
              <a:lnSpc>
                <a:spcPts val="5550"/>
              </a:lnSpc>
              <a:buNone/>
            </a:pPr>
            <a:r>
              <a:rPr lang="en-US" sz="4450" dirty="0">
                <a:solidFill>
                  <a:srgbClr val="2C3F42"/>
                </a:solidFill>
                <a:latin typeface="Bitter Medium" pitchFamily="34" charset="0"/>
                <a:ea typeface="Bitter Medium" pitchFamily="34" charset="-122"/>
                <a:cs typeface="Bitter Medium" pitchFamily="34" charset="-120"/>
              </a:rPr>
              <a:t>MÔN: QUẢN LÝ DỰ ÁN PHẦN MỀM</a:t>
            </a:r>
            <a:endParaRPr lang="en-US" sz="4450" dirty="0"/>
          </a:p>
        </p:txBody>
      </p:sp>
      <p:sp>
        <p:nvSpPr>
          <p:cNvPr id="6" name="Text 2">
            <a:extLst>
              <a:ext uri="{FF2B5EF4-FFF2-40B4-BE49-F238E27FC236}">
                <a16:creationId xmlns:a16="http://schemas.microsoft.com/office/drawing/2014/main" id="{06851A3C-115F-7419-EA56-2A8858EB7E11}"/>
              </a:ext>
            </a:extLst>
          </p:cNvPr>
          <p:cNvSpPr/>
          <p:nvPr/>
        </p:nvSpPr>
        <p:spPr>
          <a:xfrm>
            <a:off x="881337" y="5252230"/>
            <a:ext cx="8387834" cy="2274849"/>
          </a:xfrm>
          <a:prstGeom prst="rect">
            <a:avLst/>
          </a:prstGeom>
          <a:noFill/>
          <a:ln/>
        </p:spPr>
        <p:txBody>
          <a:bodyPr wrap="none" lIns="0" tIns="0" rIns="0" bIns="0" numCol="2" rtlCol="0" anchor="t"/>
          <a:lstStyle/>
          <a:p>
            <a:pPr marL="0" indent="0" algn="just">
              <a:lnSpc>
                <a:spcPts val="5550"/>
              </a:lnSpc>
              <a:buNone/>
            </a:pPr>
            <a:r>
              <a:rPr lang="en-US" sz="2800" b="1" dirty="0">
                <a:solidFill>
                  <a:srgbClr val="2C3F42"/>
                </a:solidFill>
                <a:latin typeface="Bitter Medium" pitchFamily="34" charset="0"/>
                <a:ea typeface="Bitter Medium" pitchFamily="34" charset="-122"/>
                <a:cs typeface="Bitter Medium" pitchFamily="34" charset="-120"/>
              </a:rPr>
              <a:t>Sinh </a:t>
            </a:r>
            <a:r>
              <a:rPr lang="en-US" sz="2800" b="1" dirty="0" err="1">
                <a:solidFill>
                  <a:srgbClr val="2C3F42"/>
                </a:solidFill>
                <a:latin typeface="Bitter Medium" pitchFamily="34" charset="0"/>
                <a:ea typeface="Bitter Medium" pitchFamily="34" charset="-122"/>
                <a:cs typeface="Bitter Medium" pitchFamily="34" charset="-120"/>
              </a:rPr>
              <a:t>viên</a:t>
            </a:r>
            <a:r>
              <a:rPr lang="en-US" sz="2800" b="1" dirty="0">
                <a:solidFill>
                  <a:srgbClr val="2C3F42"/>
                </a:solidFill>
                <a:latin typeface="Bitter Medium" pitchFamily="34" charset="0"/>
                <a:ea typeface="Bitter Medium" pitchFamily="34" charset="-122"/>
                <a:cs typeface="Bitter Medium" pitchFamily="34" charset="-120"/>
              </a:rPr>
              <a:t> </a:t>
            </a:r>
            <a:r>
              <a:rPr lang="en-US" sz="2800" b="1" dirty="0" err="1">
                <a:solidFill>
                  <a:srgbClr val="2C3F42"/>
                </a:solidFill>
                <a:latin typeface="Bitter Medium" pitchFamily="34" charset="0"/>
                <a:ea typeface="Bitter Medium" pitchFamily="34" charset="-122"/>
                <a:cs typeface="Bitter Medium" pitchFamily="34" charset="-120"/>
              </a:rPr>
              <a:t>thực</a:t>
            </a:r>
            <a:r>
              <a:rPr lang="en-US" sz="2800" b="1" dirty="0">
                <a:solidFill>
                  <a:srgbClr val="2C3F42"/>
                </a:solidFill>
                <a:latin typeface="Bitter Medium" pitchFamily="34" charset="0"/>
                <a:ea typeface="Bitter Medium" pitchFamily="34" charset="-122"/>
                <a:cs typeface="Bitter Medium" pitchFamily="34" charset="-120"/>
              </a:rPr>
              <a:t> </a:t>
            </a:r>
            <a:r>
              <a:rPr lang="en-US" sz="2800" b="1" dirty="0" err="1">
                <a:solidFill>
                  <a:srgbClr val="2C3F42"/>
                </a:solidFill>
                <a:latin typeface="Bitter Medium" pitchFamily="34" charset="0"/>
                <a:ea typeface="Bitter Medium" pitchFamily="34" charset="-122"/>
                <a:cs typeface="Bitter Medium" pitchFamily="34" charset="-120"/>
              </a:rPr>
              <a:t>hiện</a:t>
            </a:r>
            <a:r>
              <a:rPr lang="en-US" sz="2800" b="1" dirty="0">
                <a:solidFill>
                  <a:srgbClr val="2C3F42"/>
                </a:solidFill>
                <a:latin typeface="Bitter Medium" pitchFamily="34" charset="0"/>
                <a:ea typeface="Bitter Medium" pitchFamily="34" charset="-122"/>
                <a:cs typeface="Bitter Medium" pitchFamily="34" charset="-120"/>
              </a:rPr>
              <a:t>:</a:t>
            </a:r>
          </a:p>
          <a:p>
            <a:pPr marL="0" indent="0" algn="just">
              <a:lnSpc>
                <a:spcPts val="5550"/>
              </a:lnSpc>
              <a:buNone/>
            </a:pPr>
            <a:r>
              <a:rPr lang="en-US" sz="2800" dirty="0">
                <a:solidFill>
                  <a:srgbClr val="2C3F42"/>
                </a:solidFill>
                <a:latin typeface="Bitter Medium" pitchFamily="34" charset="0"/>
              </a:rPr>
              <a:t>Nguyễn Quốc Khánh</a:t>
            </a:r>
          </a:p>
          <a:p>
            <a:pPr marL="0" indent="0" algn="just">
              <a:lnSpc>
                <a:spcPts val="5550"/>
              </a:lnSpc>
              <a:buNone/>
            </a:pPr>
            <a:r>
              <a:rPr lang="en-US" sz="2800" dirty="0">
                <a:solidFill>
                  <a:srgbClr val="2C3F42"/>
                </a:solidFill>
                <a:latin typeface="Bitter Medium" pitchFamily="34" charset="0"/>
              </a:rPr>
              <a:t>Đặng Văn Khoa</a:t>
            </a:r>
          </a:p>
          <a:p>
            <a:pPr marL="0" indent="0" algn="just">
              <a:lnSpc>
                <a:spcPts val="5550"/>
              </a:lnSpc>
              <a:buNone/>
            </a:pPr>
            <a:r>
              <a:rPr lang="en-US" sz="2800" b="1" dirty="0">
                <a:solidFill>
                  <a:srgbClr val="2C3F42"/>
                </a:solidFill>
                <a:latin typeface="Bitter Medium" pitchFamily="34" charset="0"/>
              </a:rPr>
              <a:t>MSSV:</a:t>
            </a:r>
          </a:p>
          <a:p>
            <a:pPr marL="0" indent="0" algn="just">
              <a:lnSpc>
                <a:spcPts val="5550"/>
              </a:lnSpc>
              <a:buNone/>
            </a:pPr>
            <a:r>
              <a:rPr lang="en-US" sz="2800" dirty="0">
                <a:solidFill>
                  <a:srgbClr val="2C3F42"/>
                </a:solidFill>
                <a:latin typeface="Bitter Medium" pitchFamily="34" charset="0"/>
              </a:rPr>
              <a:t>1150080057</a:t>
            </a:r>
          </a:p>
          <a:p>
            <a:pPr marL="0" indent="0" algn="just">
              <a:lnSpc>
                <a:spcPts val="5550"/>
              </a:lnSpc>
              <a:buNone/>
            </a:pPr>
            <a:r>
              <a:rPr lang="en-US" sz="2800" dirty="0">
                <a:solidFill>
                  <a:srgbClr val="2C3F42"/>
                </a:solidFill>
                <a:latin typeface="Bitter Medium" pitchFamily="34" charset="0"/>
              </a:rPr>
              <a:t>1150080058</a:t>
            </a:r>
            <a:endParaRPr lang="en-US" sz="2800" dirty="0"/>
          </a:p>
        </p:txBody>
      </p:sp>
      <p:sp>
        <p:nvSpPr>
          <p:cNvPr id="8" name="Text 2">
            <a:extLst>
              <a:ext uri="{FF2B5EF4-FFF2-40B4-BE49-F238E27FC236}">
                <a16:creationId xmlns:a16="http://schemas.microsoft.com/office/drawing/2014/main" id="{E478E391-45B1-E121-9925-105A4FB13242}"/>
              </a:ext>
            </a:extLst>
          </p:cNvPr>
          <p:cNvSpPr/>
          <p:nvPr/>
        </p:nvSpPr>
        <p:spPr>
          <a:xfrm>
            <a:off x="8699098" y="6657286"/>
            <a:ext cx="5485253" cy="869794"/>
          </a:xfrm>
          <a:prstGeom prst="rect">
            <a:avLst/>
          </a:prstGeom>
          <a:noFill/>
          <a:ln/>
        </p:spPr>
        <p:txBody>
          <a:bodyPr wrap="none" lIns="0" tIns="0" rIns="0" bIns="0" numCol="1" rtlCol="0" anchor="t"/>
          <a:lstStyle/>
          <a:p>
            <a:pPr marL="0" indent="0" algn="just">
              <a:lnSpc>
                <a:spcPts val="5550"/>
              </a:lnSpc>
              <a:buNone/>
            </a:pPr>
            <a:r>
              <a:rPr lang="en-US" sz="2800" b="1" dirty="0">
                <a:solidFill>
                  <a:srgbClr val="2C3F42"/>
                </a:solidFill>
                <a:latin typeface="Bitter Medium" panose="020B0604020202020204" charset="0"/>
                <a:ea typeface="Bitter Medium" pitchFamily="34" charset="-122"/>
                <a:cs typeface="Bitter Medium" pitchFamily="34" charset="-120"/>
              </a:rPr>
              <a:t>GVHD: </a:t>
            </a:r>
            <a:r>
              <a:rPr lang="en-US" sz="2800" b="1" dirty="0" err="1">
                <a:solidFill>
                  <a:srgbClr val="2C3F42"/>
                </a:solidFill>
                <a:latin typeface="Bitter Medium" panose="020B0604020202020204" charset="0"/>
                <a:ea typeface="Bitter Medium" pitchFamily="34" charset="-122"/>
                <a:cs typeface="Bitter Medium" pitchFamily="34" charset="-120"/>
              </a:rPr>
              <a:t>ThS</a:t>
            </a:r>
            <a:r>
              <a:rPr lang="en-US" sz="2800" b="1" dirty="0">
                <a:solidFill>
                  <a:srgbClr val="2C3F42"/>
                </a:solidFill>
                <a:latin typeface="Bitter Medium" panose="020B0604020202020204" charset="0"/>
                <a:ea typeface="Bitter Medium" pitchFamily="34" charset="-122"/>
                <a:cs typeface="Bitter Medium" pitchFamily="34" charset="-120"/>
              </a:rPr>
              <a:t>. Phạm </a:t>
            </a:r>
            <a:r>
              <a:rPr lang="en-US" sz="2800" b="1" dirty="0" err="1">
                <a:solidFill>
                  <a:srgbClr val="2C3F42"/>
                </a:solidFill>
                <a:latin typeface="Bitter Medium" panose="020B0604020202020204" charset="0"/>
                <a:ea typeface="Bitter Medium" pitchFamily="34" charset="-122"/>
                <a:cs typeface="Bitter Medium" pitchFamily="34" charset="-120"/>
              </a:rPr>
              <a:t>Trọng</a:t>
            </a:r>
            <a:r>
              <a:rPr lang="en-US" sz="2800" b="1" dirty="0">
                <a:solidFill>
                  <a:srgbClr val="2C3F42"/>
                </a:solidFill>
                <a:latin typeface="Bitter Medium" panose="020B0604020202020204" charset="0"/>
                <a:ea typeface="Bitter Medium" pitchFamily="34" charset="-122"/>
                <a:cs typeface="Bitter Medium" pitchFamily="34" charset="-120"/>
              </a:rPr>
              <a:t> Huynh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1500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MỤC LỤC</a:t>
            </a:r>
            <a:endParaRPr lang="en-US" sz="3550" dirty="0"/>
          </a:p>
        </p:txBody>
      </p:sp>
      <p:sp>
        <p:nvSpPr>
          <p:cNvPr id="3" name="Shape 1"/>
          <p:cNvSpPr/>
          <p:nvPr/>
        </p:nvSpPr>
        <p:spPr>
          <a:xfrm>
            <a:off x="793790" y="2035612"/>
            <a:ext cx="4196358" cy="2476024"/>
          </a:xfrm>
          <a:prstGeom prst="roundRect">
            <a:avLst>
              <a:gd name="adj" fmla="val 3848"/>
            </a:avLst>
          </a:prstGeom>
          <a:solidFill>
            <a:srgbClr val="FCE2CF"/>
          </a:solidFill>
          <a:ln w="7620">
            <a:solidFill>
              <a:srgbClr val="D2600F"/>
            </a:solidFill>
            <a:prstDash val="solid"/>
          </a:ln>
        </p:spPr>
        <p:txBody>
          <a:bodyPr/>
          <a:lstStyle/>
          <a:p>
            <a:endParaRPr lang="en-US"/>
          </a:p>
        </p:txBody>
      </p:sp>
      <p:sp>
        <p:nvSpPr>
          <p:cNvPr id="4" name="Shape 2"/>
          <p:cNvSpPr/>
          <p:nvPr/>
        </p:nvSpPr>
        <p:spPr>
          <a:xfrm>
            <a:off x="1028224" y="2270046"/>
            <a:ext cx="680442" cy="680442"/>
          </a:xfrm>
          <a:prstGeom prst="roundRect">
            <a:avLst>
              <a:gd name="adj" fmla="val 13436980"/>
            </a:avLst>
          </a:prstGeom>
          <a:solidFill>
            <a:srgbClr val="D2600F"/>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5390" y="2457093"/>
            <a:ext cx="306110" cy="306110"/>
          </a:xfrm>
          <a:prstGeom prst="rect">
            <a:avLst/>
          </a:prstGeom>
        </p:spPr>
      </p:pic>
      <p:sp>
        <p:nvSpPr>
          <p:cNvPr id="6" name="Text 3"/>
          <p:cNvSpPr/>
          <p:nvPr/>
        </p:nvSpPr>
        <p:spPr>
          <a:xfrm>
            <a:off x="1368385" y="33133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01</a:t>
            </a:r>
            <a:endParaRPr lang="en-US" sz="2200" dirty="0"/>
          </a:p>
        </p:txBody>
      </p:sp>
      <p:sp>
        <p:nvSpPr>
          <p:cNvPr id="7" name="Shape 4"/>
          <p:cNvSpPr/>
          <p:nvPr/>
        </p:nvSpPr>
        <p:spPr>
          <a:xfrm>
            <a:off x="1028224" y="3313390"/>
            <a:ext cx="30480" cy="354330"/>
          </a:xfrm>
          <a:prstGeom prst="rect">
            <a:avLst/>
          </a:prstGeom>
          <a:solidFill>
            <a:srgbClr val="D2600F"/>
          </a:solidFill>
          <a:ln/>
        </p:spPr>
        <p:txBody>
          <a:bodyPr/>
          <a:lstStyle/>
          <a:p>
            <a:endParaRPr lang="en-US"/>
          </a:p>
        </p:txBody>
      </p:sp>
      <p:sp>
        <p:nvSpPr>
          <p:cNvPr id="8" name="Text 5"/>
          <p:cNvSpPr/>
          <p:nvPr/>
        </p:nvSpPr>
        <p:spPr>
          <a:xfrm>
            <a:off x="1028224" y="39228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Giới thiệu</a:t>
            </a:r>
            <a:endParaRPr lang="en-US" sz="2200" dirty="0"/>
          </a:p>
        </p:txBody>
      </p:sp>
      <p:sp>
        <p:nvSpPr>
          <p:cNvPr id="9" name="Shape 6"/>
          <p:cNvSpPr/>
          <p:nvPr/>
        </p:nvSpPr>
        <p:spPr>
          <a:xfrm>
            <a:off x="5216962" y="2035612"/>
            <a:ext cx="4196358" cy="2476024"/>
          </a:xfrm>
          <a:prstGeom prst="roundRect">
            <a:avLst>
              <a:gd name="adj" fmla="val 3848"/>
            </a:avLst>
          </a:prstGeom>
          <a:solidFill>
            <a:srgbClr val="FCE2CF"/>
          </a:solidFill>
          <a:ln w="7620">
            <a:solidFill>
              <a:srgbClr val="E2C8B5"/>
            </a:solidFill>
            <a:prstDash val="solid"/>
          </a:ln>
        </p:spPr>
        <p:txBody>
          <a:bodyPr/>
          <a:lstStyle/>
          <a:p>
            <a:endParaRPr lang="en-US"/>
          </a:p>
        </p:txBody>
      </p:sp>
      <p:sp>
        <p:nvSpPr>
          <p:cNvPr id="10" name="Shape 7"/>
          <p:cNvSpPr/>
          <p:nvPr/>
        </p:nvSpPr>
        <p:spPr>
          <a:xfrm>
            <a:off x="5451396" y="2270046"/>
            <a:ext cx="680442" cy="680442"/>
          </a:xfrm>
          <a:prstGeom prst="roundRect">
            <a:avLst>
              <a:gd name="adj" fmla="val 13436980"/>
            </a:avLst>
          </a:prstGeom>
          <a:solidFill>
            <a:srgbClr val="D2600F"/>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8562" y="2457093"/>
            <a:ext cx="306110" cy="306110"/>
          </a:xfrm>
          <a:prstGeom prst="rect">
            <a:avLst/>
          </a:prstGeom>
        </p:spPr>
      </p:pic>
      <p:sp>
        <p:nvSpPr>
          <p:cNvPr id="12" name="Text 8"/>
          <p:cNvSpPr/>
          <p:nvPr/>
        </p:nvSpPr>
        <p:spPr>
          <a:xfrm>
            <a:off x="5791557" y="33133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02</a:t>
            </a:r>
            <a:endParaRPr lang="en-US" sz="2200" dirty="0"/>
          </a:p>
        </p:txBody>
      </p:sp>
      <p:sp>
        <p:nvSpPr>
          <p:cNvPr id="13" name="Shape 9"/>
          <p:cNvSpPr/>
          <p:nvPr/>
        </p:nvSpPr>
        <p:spPr>
          <a:xfrm>
            <a:off x="5451396" y="3313390"/>
            <a:ext cx="30480" cy="354330"/>
          </a:xfrm>
          <a:prstGeom prst="rect">
            <a:avLst/>
          </a:prstGeom>
          <a:solidFill>
            <a:srgbClr val="D2600F"/>
          </a:solidFill>
          <a:ln/>
        </p:spPr>
        <p:txBody>
          <a:bodyPr/>
          <a:lstStyle/>
          <a:p>
            <a:endParaRPr lang="en-US"/>
          </a:p>
        </p:txBody>
      </p:sp>
      <p:sp>
        <p:nvSpPr>
          <p:cNvPr id="15" name="Shape 11"/>
          <p:cNvSpPr/>
          <p:nvPr/>
        </p:nvSpPr>
        <p:spPr>
          <a:xfrm>
            <a:off x="9640133" y="2035612"/>
            <a:ext cx="4196358" cy="2476024"/>
          </a:xfrm>
          <a:prstGeom prst="roundRect">
            <a:avLst>
              <a:gd name="adj" fmla="val 3848"/>
            </a:avLst>
          </a:prstGeom>
          <a:solidFill>
            <a:srgbClr val="FCE2CF"/>
          </a:solidFill>
          <a:ln w="7620">
            <a:solidFill>
              <a:srgbClr val="E2C8B5"/>
            </a:solidFill>
            <a:prstDash val="solid"/>
          </a:ln>
        </p:spPr>
        <p:txBody>
          <a:bodyPr/>
          <a:lstStyle/>
          <a:p>
            <a:endParaRPr lang="en-US"/>
          </a:p>
        </p:txBody>
      </p:sp>
      <p:sp>
        <p:nvSpPr>
          <p:cNvPr id="16" name="Shape 12"/>
          <p:cNvSpPr/>
          <p:nvPr/>
        </p:nvSpPr>
        <p:spPr>
          <a:xfrm>
            <a:off x="9874568" y="2270046"/>
            <a:ext cx="680442" cy="680442"/>
          </a:xfrm>
          <a:prstGeom prst="roundRect">
            <a:avLst>
              <a:gd name="adj" fmla="val 13436980"/>
            </a:avLst>
          </a:prstGeom>
          <a:solidFill>
            <a:srgbClr val="D2600F"/>
          </a:solidFill>
          <a:ln/>
        </p:spPr>
        <p:txBody>
          <a:bodyPr/>
          <a:lstStyle/>
          <a:p>
            <a:endParaRPr lang="en-US"/>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61734" y="2457093"/>
            <a:ext cx="306110" cy="306110"/>
          </a:xfrm>
          <a:prstGeom prst="rect">
            <a:avLst/>
          </a:prstGeom>
        </p:spPr>
      </p:pic>
      <p:sp>
        <p:nvSpPr>
          <p:cNvPr id="18" name="Text 13"/>
          <p:cNvSpPr/>
          <p:nvPr/>
        </p:nvSpPr>
        <p:spPr>
          <a:xfrm>
            <a:off x="10214729" y="331339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03</a:t>
            </a:r>
            <a:endParaRPr lang="en-US" sz="2200" dirty="0"/>
          </a:p>
        </p:txBody>
      </p:sp>
      <p:sp>
        <p:nvSpPr>
          <p:cNvPr id="19" name="Shape 14"/>
          <p:cNvSpPr/>
          <p:nvPr/>
        </p:nvSpPr>
        <p:spPr>
          <a:xfrm>
            <a:off x="9874568" y="3313390"/>
            <a:ext cx="30480" cy="354330"/>
          </a:xfrm>
          <a:prstGeom prst="rect">
            <a:avLst/>
          </a:prstGeom>
          <a:solidFill>
            <a:srgbClr val="D2600F"/>
          </a:solidFill>
          <a:ln/>
        </p:spPr>
        <p:txBody>
          <a:bodyPr/>
          <a:lstStyle/>
          <a:p>
            <a:endParaRPr lang="en-US"/>
          </a:p>
        </p:txBody>
      </p:sp>
      <p:sp>
        <p:nvSpPr>
          <p:cNvPr id="20" name="Text 15"/>
          <p:cNvSpPr/>
          <p:nvPr/>
        </p:nvSpPr>
        <p:spPr>
          <a:xfrm>
            <a:off x="9874568" y="3922871"/>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Tính năng</a:t>
            </a:r>
            <a:endParaRPr lang="en-US" sz="2200" dirty="0"/>
          </a:p>
        </p:txBody>
      </p:sp>
      <p:sp>
        <p:nvSpPr>
          <p:cNvPr id="21" name="Shape 16"/>
          <p:cNvSpPr/>
          <p:nvPr/>
        </p:nvSpPr>
        <p:spPr>
          <a:xfrm>
            <a:off x="793790" y="4738449"/>
            <a:ext cx="6407944" cy="2476024"/>
          </a:xfrm>
          <a:prstGeom prst="roundRect">
            <a:avLst>
              <a:gd name="adj" fmla="val 3848"/>
            </a:avLst>
          </a:prstGeom>
          <a:solidFill>
            <a:srgbClr val="FCE2CF"/>
          </a:solidFill>
          <a:ln w="7620">
            <a:solidFill>
              <a:srgbClr val="E2C8B5"/>
            </a:solidFill>
            <a:prstDash val="solid"/>
          </a:ln>
        </p:spPr>
        <p:txBody>
          <a:bodyPr/>
          <a:lstStyle/>
          <a:p>
            <a:endParaRPr lang="en-US"/>
          </a:p>
        </p:txBody>
      </p:sp>
      <p:sp>
        <p:nvSpPr>
          <p:cNvPr id="22" name="Shape 17"/>
          <p:cNvSpPr/>
          <p:nvPr/>
        </p:nvSpPr>
        <p:spPr>
          <a:xfrm>
            <a:off x="1028224" y="4972883"/>
            <a:ext cx="680442" cy="680442"/>
          </a:xfrm>
          <a:prstGeom prst="roundRect">
            <a:avLst>
              <a:gd name="adj" fmla="val 13436980"/>
            </a:avLst>
          </a:prstGeom>
          <a:solidFill>
            <a:srgbClr val="D2600F"/>
          </a:solidFill>
          <a:ln/>
        </p:spPr>
        <p:txBody>
          <a:bodyPr/>
          <a:lstStyle/>
          <a:p>
            <a:endParaRPr lang="en-US"/>
          </a:p>
        </p:txBody>
      </p:sp>
      <p:pic>
        <p:nvPicPr>
          <p:cNvPr id="2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5390" y="5159931"/>
            <a:ext cx="306110" cy="306110"/>
          </a:xfrm>
          <a:prstGeom prst="rect">
            <a:avLst/>
          </a:prstGeom>
        </p:spPr>
      </p:pic>
      <p:sp>
        <p:nvSpPr>
          <p:cNvPr id="24" name="Text 18"/>
          <p:cNvSpPr/>
          <p:nvPr/>
        </p:nvSpPr>
        <p:spPr>
          <a:xfrm>
            <a:off x="1368385" y="60162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04</a:t>
            </a:r>
            <a:endParaRPr lang="en-US" sz="2200" dirty="0"/>
          </a:p>
        </p:txBody>
      </p:sp>
      <p:sp>
        <p:nvSpPr>
          <p:cNvPr id="25" name="Shape 19"/>
          <p:cNvSpPr/>
          <p:nvPr/>
        </p:nvSpPr>
        <p:spPr>
          <a:xfrm>
            <a:off x="1028224" y="6016228"/>
            <a:ext cx="30480" cy="354330"/>
          </a:xfrm>
          <a:prstGeom prst="rect">
            <a:avLst/>
          </a:prstGeom>
          <a:solidFill>
            <a:srgbClr val="D2600F"/>
          </a:solidFill>
          <a:ln/>
        </p:spPr>
        <p:txBody>
          <a:bodyPr/>
          <a:lstStyle/>
          <a:p>
            <a:endParaRPr lang="en-US"/>
          </a:p>
        </p:txBody>
      </p:sp>
      <p:sp>
        <p:nvSpPr>
          <p:cNvPr id="26" name="Text 20"/>
          <p:cNvSpPr/>
          <p:nvPr/>
        </p:nvSpPr>
        <p:spPr>
          <a:xfrm>
            <a:off x="1028224" y="66257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Demo</a:t>
            </a:r>
            <a:endParaRPr lang="en-US" sz="2200" dirty="0"/>
          </a:p>
        </p:txBody>
      </p:sp>
      <p:sp>
        <p:nvSpPr>
          <p:cNvPr id="27" name="Shape 21"/>
          <p:cNvSpPr/>
          <p:nvPr/>
        </p:nvSpPr>
        <p:spPr>
          <a:xfrm>
            <a:off x="7428548" y="4738449"/>
            <a:ext cx="6407944" cy="2476024"/>
          </a:xfrm>
          <a:prstGeom prst="roundRect">
            <a:avLst>
              <a:gd name="adj" fmla="val 3848"/>
            </a:avLst>
          </a:prstGeom>
          <a:solidFill>
            <a:srgbClr val="FCE2CF"/>
          </a:solidFill>
          <a:ln w="7620">
            <a:solidFill>
              <a:srgbClr val="E2C8B5"/>
            </a:solidFill>
            <a:prstDash val="solid"/>
          </a:ln>
        </p:spPr>
        <p:txBody>
          <a:bodyPr/>
          <a:lstStyle/>
          <a:p>
            <a:endParaRPr lang="en-US"/>
          </a:p>
        </p:txBody>
      </p:sp>
      <p:sp>
        <p:nvSpPr>
          <p:cNvPr id="28" name="Shape 22"/>
          <p:cNvSpPr/>
          <p:nvPr/>
        </p:nvSpPr>
        <p:spPr>
          <a:xfrm>
            <a:off x="7662982" y="4972883"/>
            <a:ext cx="680442" cy="680442"/>
          </a:xfrm>
          <a:prstGeom prst="roundRect">
            <a:avLst>
              <a:gd name="adj" fmla="val 13436980"/>
            </a:avLst>
          </a:prstGeom>
          <a:solidFill>
            <a:srgbClr val="D2600F"/>
          </a:solidFill>
          <a:ln/>
        </p:spPr>
        <p:txBody>
          <a:bodyPr/>
          <a:lstStyle/>
          <a:p>
            <a:endParaRPr lang="en-US"/>
          </a:p>
        </p:txBody>
      </p:sp>
      <p:pic>
        <p:nvPicPr>
          <p:cNvPr id="29"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50148" y="5159931"/>
            <a:ext cx="306110" cy="306110"/>
          </a:xfrm>
          <a:prstGeom prst="rect">
            <a:avLst/>
          </a:prstGeom>
        </p:spPr>
      </p:pic>
      <p:sp>
        <p:nvSpPr>
          <p:cNvPr id="30" name="Text 23"/>
          <p:cNvSpPr/>
          <p:nvPr/>
        </p:nvSpPr>
        <p:spPr>
          <a:xfrm>
            <a:off x="8003143" y="60162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05 </a:t>
            </a:r>
            <a:endParaRPr lang="en-US" sz="2200" dirty="0"/>
          </a:p>
        </p:txBody>
      </p:sp>
      <p:sp>
        <p:nvSpPr>
          <p:cNvPr id="31" name="Shape 24"/>
          <p:cNvSpPr/>
          <p:nvPr/>
        </p:nvSpPr>
        <p:spPr>
          <a:xfrm>
            <a:off x="7662982" y="6016228"/>
            <a:ext cx="30480" cy="354330"/>
          </a:xfrm>
          <a:prstGeom prst="rect">
            <a:avLst/>
          </a:prstGeom>
          <a:solidFill>
            <a:srgbClr val="D2600F"/>
          </a:solidFill>
          <a:ln/>
        </p:spPr>
        <p:txBody>
          <a:bodyPr/>
          <a:lstStyle/>
          <a:p>
            <a:endParaRPr lang="en-US"/>
          </a:p>
        </p:txBody>
      </p:sp>
      <p:sp>
        <p:nvSpPr>
          <p:cNvPr id="32" name="Text 25"/>
          <p:cNvSpPr/>
          <p:nvPr/>
        </p:nvSpPr>
        <p:spPr>
          <a:xfrm>
            <a:off x="7662982" y="66257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ea typeface="Bitter Medium" pitchFamily="34" charset="-122"/>
                <a:cs typeface="Bitter Medium" pitchFamily="34" charset="-120"/>
              </a:rPr>
              <a:t>Kết luận</a:t>
            </a:r>
            <a:endParaRPr lang="en-US" sz="2200" dirty="0"/>
          </a:p>
        </p:txBody>
      </p:sp>
      <p:sp>
        <p:nvSpPr>
          <p:cNvPr id="36" name="Text 5">
            <a:extLst>
              <a:ext uri="{FF2B5EF4-FFF2-40B4-BE49-F238E27FC236}">
                <a16:creationId xmlns:a16="http://schemas.microsoft.com/office/drawing/2014/main" id="{3C7489AF-9EC4-C6C1-D829-778804C1A2BD}"/>
              </a:ext>
            </a:extLst>
          </p:cNvPr>
          <p:cNvSpPr/>
          <p:nvPr/>
        </p:nvSpPr>
        <p:spPr>
          <a:xfrm>
            <a:off x="5330309" y="391447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2B2E3C"/>
                </a:solidFill>
                <a:latin typeface="Bitter Medium" pitchFamily="34" charset="0"/>
              </a:rPr>
              <a:t>Quản </a:t>
            </a:r>
            <a:r>
              <a:rPr lang="en-US" sz="2200" dirty="0" err="1">
                <a:solidFill>
                  <a:srgbClr val="2B2E3C"/>
                </a:solidFill>
                <a:latin typeface="Bitter Medium" pitchFamily="34" charset="0"/>
              </a:rPr>
              <a:t>lý</a:t>
            </a:r>
            <a:r>
              <a:rPr lang="en-US" sz="2200" dirty="0">
                <a:solidFill>
                  <a:srgbClr val="2B2E3C"/>
                </a:solidFill>
                <a:latin typeface="Bitter Medium" pitchFamily="34" charset="0"/>
              </a:rPr>
              <a:t> </a:t>
            </a:r>
            <a:r>
              <a:rPr lang="en-US" sz="2200" dirty="0" err="1">
                <a:solidFill>
                  <a:srgbClr val="2B2E3C"/>
                </a:solidFill>
                <a:latin typeface="Bitter Medium" pitchFamily="34" charset="0"/>
              </a:rPr>
              <a:t>dự</a:t>
            </a:r>
            <a:r>
              <a:rPr lang="en-US" sz="2200" dirty="0">
                <a:solidFill>
                  <a:srgbClr val="2B2E3C"/>
                </a:solidFill>
                <a:latin typeface="Bitter Medium" pitchFamily="34" charset="0"/>
              </a:rPr>
              <a:t> </a:t>
            </a:r>
            <a:r>
              <a:rPr lang="en-US" sz="2200" dirty="0" err="1">
                <a:solidFill>
                  <a:srgbClr val="2B2E3C"/>
                </a:solidFill>
                <a:latin typeface="Bitter Medium" pitchFamily="34" charset="0"/>
              </a:rPr>
              <a:t>án</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5" grpId="0" animBg="1"/>
      <p:bldP spid="21"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51372"/>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01. Giới thiệu</a:t>
            </a:r>
            <a:endParaRPr lang="en-US" sz="35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2314" y="2346031"/>
            <a:ext cx="340162" cy="340162"/>
          </a:xfrm>
          <a:prstGeom prst="rect">
            <a:avLst/>
          </a:prstGeom>
        </p:spPr>
      </p:pic>
      <p:sp>
        <p:nvSpPr>
          <p:cNvPr id="4" name="Text 1"/>
          <p:cNvSpPr/>
          <p:nvPr/>
        </p:nvSpPr>
        <p:spPr>
          <a:xfrm>
            <a:off x="1530906" y="2346031"/>
            <a:ext cx="6867168" cy="2480310"/>
          </a:xfrm>
          <a:prstGeom prst="rect">
            <a:avLst/>
          </a:prstGeom>
          <a:noFill/>
          <a:ln/>
        </p:spPr>
        <p:txBody>
          <a:bodyPr wrap="square" lIns="0" tIns="0" rIns="0" bIns="0" rtlCol="0" anchor="t"/>
          <a:lstStyle/>
          <a:p>
            <a:pPr marL="0" indent="0" algn="just">
              <a:lnSpc>
                <a:spcPts val="2750"/>
              </a:lnSpc>
              <a:buNone/>
            </a:pPr>
            <a:r>
              <a:rPr lang="en-US" sz="2200" dirty="0">
                <a:solidFill>
                  <a:srgbClr val="2B2E3C"/>
                </a:solidFill>
                <a:latin typeface="Bitter Medium" pitchFamily="34" charset="0"/>
                <a:ea typeface="Bitter Medium" pitchFamily="34" charset="-122"/>
                <a:cs typeface="Bitter Medium" pitchFamily="34" charset="-120"/>
              </a:rPr>
              <a:t>Hệ thống đặt vé xe online cho phép người dùng đặt vé và thanh toán bằng Momo hoặc tiền mặt, có chức năng tìm kiếm chuyến đi hổ trợ người dùng tìm kiếm điểm đi, điểm đến, giờ đi một cách nhanh chóng, khách hàng có thể để lại cảm nhận của chuyến đi, khách hàng có thể trực tiếp chọn ghế ngồi khi đặt vé.</a:t>
            </a:r>
            <a:endParaRPr lang="en-US" sz="2200" dirty="0"/>
          </a:p>
        </p:txBody>
      </p:sp>
      <p:pic>
        <p:nvPicPr>
          <p:cNvPr id="5" name="Image 1" descr="preencoded.png"/>
          <p:cNvPicPr>
            <a:picLocks noChangeAspect="1"/>
          </p:cNvPicPr>
          <p:nvPr/>
        </p:nvPicPr>
        <p:blipFill>
          <a:blip r:embed="rId5"/>
          <a:stretch>
            <a:fillRect/>
          </a:stretch>
        </p:blipFill>
        <p:spPr>
          <a:xfrm>
            <a:off x="8866585" y="2245670"/>
            <a:ext cx="4885015" cy="3342322"/>
          </a:xfrm>
          <a:prstGeom prst="rect">
            <a:avLst/>
          </a:prstGeom>
        </p:spPr>
      </p:pic>
      <p:sp>
        <p:nvSpPr>
          <p:cNvPr id="6" name="Text 2"/>
          <p:cNvSpPr/>
          <p:nvPr/>
        </p:nvSpPr>
        <p:spPr>
          <a:xfrm>
            <a:off x="8959096" y="6211133"/>
            <a:ext cx="4885015"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7" name="Freeform 2">
            <a:extLst>
              <a:ext uri="{FF2B5EF4-FFF2-40B4-BE49-F238E27FC236}">
                <a16:creationId xmlns:a16="http://schemas.microsoft.com/office/drawing/2014/main" id="{543CCD1B-5ECC-324A-124E-2B12AD4CCA51}"/>
              </a:ext>
            </a:extLst>
          </p:cNvPr>
          <p:cNvSpPr/>
          <p:nvPr/>
        </p:nvSpPr>
        <p:spPr>
          <a:xfrm>
            <a:off x="600011" y="4662293"/>
            <a:ext cx="2300404" cy="1851398"/>
          </a:xfrm>
          <a:custGeom>
            <a:avLst/>
            <a:gdLst/>
            <a:ahLst/>
            <a:cxnLst/>
            <a:rect l="l" t="t" r="r" b="b"/>
            <a:pathLst>
              <a:path w="5017096" h="3036807">
                <a:moveTo>
                  <a:pt x="0" y="0"/>
                </a:moveTo>
                <a:lnTo>
                  <a:pt x="5017096" y="0"/>
                </a:lnTo>
                <a:lnTo>
                  <a:pt x="5017096" y="3036807"/>
                </a:lnTo>
                <a:lnTo>
                  <a:pt x="0" y="3036807"/>
                </a:lnTo>
                <a:lnTo>
                  <a:pt x="0" y="0"/>
                </a:lnTo>
                <a:close/>
              </a:path>
            </a:pathLst>
          </a:custGeom>
          <a:blipFill>
            <a:blip r:embed="rId6"/>
            <a:stretch>
              <a:fillRect t="-10070"/>
            </a:stretch>
          </a:blipFill>
        </p:spPr>
        <p:txBody>
          <a:bodyPr/>
          <a:lstStyle/>
          <a:p>
            <a:endParaRPr lang="en-US"/>
          </a:p>
        </p:txBody>
      </p:sp>
      <p:sp>
        <p:nvSpPr>
          <p:cNvPr id="8" name="Freeform 3">
            <a:extLst>
              <a:ext uri="{FF2B5EF4-FFF2-40B4-BE49-F238E27FC236}">
                <a16:creationId xmlns:a16="http://schemas.microsoft.com/office/drawing/2014/main" id="{A24F0619-5778-743C-5C8A-48AA9769E362}"/>
              </a:ext>
            </a:extLst>
          </p:cNvPr>
          <p:cNvSpPr/>
          <p:nvPr/>
        </p:nvSpPr>
        <p:spPr>
          <a:xfrm>
            <a:off x="2770924" y="4662293"/>
            <a:ext cx="2564780" cy="1727356"/>
          </a:xfrm>
          <a:custGeom>
            <a:avLst/>
            <a:gdLst/>
            <a:ahLst/>
            <a:cxnLst/>
            <a:rect l="l" t="t" r="r" b="b"/>
            <a:pathLst>
              <a:path w="5812071" h="3036807">
                <a:moveTo>
                  <a:pt x="0" y="0"/>
                </a:moveTo>
                <a:lnTo>
                  <a:pt x="5812071" y="0"/>
                </a:lnTo>
                <a:lnTo>
                  <a:pt x="5812071" y="3036807"/>
                </a:lnTo>
                <a:lnTo>
                  <a:pt x="0" y="3036807"/>
                </a:lnTo>
                <a:lnTo>
                  <a:pt x="0" y="0"/>
                </a:lnTo>
                <a:close/>
              </a:path>
            </a:pathLst>
          </a:custGeom>
          <a:blipFill>
            <a:blip r:embed="rId7"/>
            <a:stretch>
              <a:fillRect/>
            </a:stretch>
          </a:blipFill>
        </p:spPr>
        <p:txBody>
          <a:bodyPr/>
          <a:lstStyle/>
          <a:p>
            <a:endParaRPr lang="en-US"/>
          </a:p>
        </p:txBody>
      </p:sp>
      <p:sp>
        <p:nvSpPr>
          <p:cNvPr id="9" name="Freeform 4">
            <a:extLst>
              <a:ext uri="{FF2B5EF4-FFF2-40B4-BE49-F238E27FC236}">
                <a16:creationId xmlns:a16="http://schemas.microsoft.com/office/drawing/2014/main" id="{907F5ACD-577E-25A8-8305-95406FCA1D3A}"/>
              </a:ext>
            </a:extLst>
          </p:cNvPr>
          <p:cNvSpPr/>
          <p:nvPr/>
        </p:nvSpPr>
        <p:spPr>
          <a:xfrm>
            <a:off x="5330309" y="4662293"/>
            <a:ext cx="3354327" cy="1851398"/>
          </a:xfrm>
          <a:custGeom>
            <a:avLst/>
            <a:gdLst/>
            <a:ahLst/>
            <a:cxnLst/>
            <a:rect l="l" t="t" r="r" b="b"/>
            <a:pathLst>
              <a:path w="5403866" h="2923142">
                <a:moveTo>
                  <a:pt x="0" y="0"/>
                </a:moveTo>
                <a:lnTo>
                  <a:pt x="5403866" y="0"/>
                </a:lnTo>
                <a:lnTo>
                  <a:pt x="5403866" y="2923142"/>
                </a:lnTo>
                <a:lnTo>
                  <a:pt x="0" y="2923142"/>
                </a:lnTo>
                <a:lnTo>
                  <a:pt x="0" y="0"/>
                </a:lnTo>
                <a:close/>
              </a:path>
            </a:pathLst>
          </a:custGeom>
          <a:blipFill>
            <a:blip r:embed="rId8"/>
            <a:stretch>
              <a:fillRect t="-3986"/>
            </a:stretch>
          </a:blipFill>
        </p:spPr>
        <p:txBody>
          <a:bodyPr/>
          <a:lstStyle/>
          <a:p>
            <a:endParaRPr lang="en-US" dirty="0"/>
          </a:p>
        </p:txBody>
      </p:sp>
      <p:sp>
        <p:nvSpPr>
          <p:cNvPr id="10" name="AutoShape 2" descr="SPRING BOOT">
            <a:extLst>
              <a:ext uri="{FF2B5EF4-FFF2-40B4-BE49-F238E27FC236}">
                <a16:creationId xmlns:a16="http://schemas.microsoft.com/office/drawing/2014/main" id="{B8A1CED6-17E4-11B9-CBB7-7AF662751BDF}"/>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SPRING BOOT">
            <a:extLst>
              <a:ext uri="{FF2B5EF4-FFF2-40B4-BE49-F238E27FC236}">
                <a16:creationId xmlns:a16="http://schemas.microsoft.com/office/drawing/2014/main" id="{3304F471-AEEE-31F3-2EBA-B02F2E7C3BA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9216" t="20732" r="4692" b="17268"/>
          <a:stretch>
            <a:fillRect/>
          </a:stretch>
        </p:blipFill>
        <p:spPr bwMode="auto">
          <a:xfrm>
            <a:off x="2513112" y="6389649"/>
            <a:ext cx="3962785" cy="11986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8B96-8EAB-1A0C-6A9F-45119B6B5E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609C84-3619-9E48-573A-9AD1A98DBA27}"/>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Tổng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quan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endParaRPr lang="en-US" sz="2700" dirty="0"/>
          </a:p>
        </p:txBody>
      </p:sp>
      <p:sp>
        <p:nvSpPr>
          <p:cNvPr id="4" name="Text 1">
            <a:extLst>
              <a:ext uri="{FF2B5EF4-FFF2-40B4-BE49-F238E27FC236}">
                <a16:creationId xmlns:a16="http://schemas.microsoft.com/office/drawing/2014/main" id="{BCDB4784-15E0-880B-AB9D-E902E883A2CD}"/>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B9E7406E-679C-1548-01C2-B3B7B220F515}"/>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7" name="Picture 6">
            <a:extLst>
              <a:ext uri="{FF2B5EF4-FFF2-40B4-BE49-F238E27FC236}">
                <a16:creationId xmlns:a16="http://schemas.microsoft.com/office/drawing/2014/main" id="{1FDF7C49-BFAD-D107-F49D-6F9018AFFBD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51506" y="1148575"/>
            <a:ext cx="12127388" cy="6434253"/>
          </a:xfrm>
          <a:prstGeom prst="rect">
            <a:avLst/>
          </a:prstGeom>
          <a:noFill/>
          <a:ln>
            <a:noFill/>
          </a:ln>
        </p:spPr>
      </p:pic>
    </p:spTree>
    <p:extLst>
      <p:ext uri="{BB962C8B-B14F-4D97-AF65-F5344CB8AC3E}">
        <p14:creationId xmlns:p14="http://schemas.microsoft.com/office/powerpoint/2010/main" val="1789701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CFC85-4867-705C-32FF-78941973A4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DCBAAB7-65B8-1152-EBC8-C68C44A2CF5E}"/>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Bảng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phân</a:t>
            </a:r>
            <a:r>
              <a:rPr lang="en-US" sz="2700" dirty="0">
                <a:solidFill>
                  <a:srgbClr val="2C3F42"/>
                </a:solidFill>
                <a:latin typeface="Bitter Medium" pitchFamily="34" charset="0"/>
                <a:ea typeface="Bitter Medium" pitchFamily="34" charset="-122"/>
                <a:cs typeface="Bitter Medium" pitchFamily="34" charset="-120"/>
              </a:rPr>
              <a:t> chia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endParaRPr lang="en-US" sz="2700" dirty="0"/>
          </a:p>
        </p:txBody>
      </p:sp>
      <p:sp>
        <p:nvSpPr>
          <p:cNvPr id="4" name="Text 1">
            <a:extLst>
              <a:ext uri="{FF2B5EF4-FFF2-40B4-BE49-F238E27FC236}">
                <a16:creationId xmlns:a16="http://schemas.microsoft.com/office/drawing/2014/main" id="{D6E5E0F1-531A-B009-A0B4-A2AEA62A32D0}"/>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7B7BD9B0-FE5C-1452-7127-A2CE458B3F18}"/>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6" name="Picture 5">
            <a:extLst>
              <a:ext uri="{FF2B5EF4-FFF2-40B4-BE49-F238E27FC236}">
                <a16:creationId xmlns:a16="http://schemas.microsoft.com/office/drawing/2014/main" id="{5B928458-489A-97F7-82AA-1B66F2A539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92501" y="915829"/>
            <a:ext cx="9110546" cy="7118788"/>
          </a:xfrm>
          <a:prstGeom prst="rect">
            <a:avLst/>
          </a:prstGeom>
          <a:noFill/>
          <a:ln>
            <a:noFill/>
          </a:ln>
        </p:spPr>
      </p:pic>
    </p:spTree>
    <p:extLst>
      <p:ext uri="{BB962C8B-B14F-4D97-AF65-F5344CB8AC3E}">
        <p14:creationId xmlns:p14="http://schemas.microsoft.com/office/powerpoint/2010/main" val="2754540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F4D8B-F95A-38E2-AFC8-924587E0AC8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94FCA2-2864-71A9-ED97-4D086556A65D}"/>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Sơ</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đồ</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phân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rã</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endParaRPr lang="en-US" sz="2700" dirty="0"/>
          </a:p>
        </p:txBody>
      </p:sp>
      <p:sp>
        <p:nvSpPr>
          <p:cNvPr id="4" name="Text 1">
            <a:extLst>
              <a:ext uri="{FF2B5EF4-FFF2-40B4-BE49-F238E27FC236}">
                <a16:creationId xmlns:a16="http://schemas.microsoft.com/office/drawing/2014/main" id="{0123BB1F-25CA-3993-4844-6FABF4B0C0B2}"/>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4D861A1D-C420-B8DF-3CBC-1C92FC573CD4}"/>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9" name="Picture 8">
            <a:extLst>
              <a:ext uri="{FF2B5EF4-FFF2-40B4-BE49-F238E27FC236}">
                <a16:creationId xmlns:a16="http://schemas.microsoft.com/office/drawing/2014/main" id="{92CC5D2E-07E6-F3DA-2C16-AEA66AFDE807}"/>
              </a:ext>
            </a:extLst>
          </p:cNvPr>
          <p:cNvPicPr>
            <a:picLocks noChangeAspect="1"/>
          </p:cNvPicPr>
          <p:nvPr/>
        </p:nvPicPr>
        <p:blipFill>
          <a:blip r:embed="rId3"/>
          <a:stretch>
            <a:fillRect/>
          </a:stretch>
        </p:blipFill>
        <p:spPr>
          <a:xfrm>
            <a:off x="3546373" y="979039"/>
            <a:ext cx="6322455" cy="7130665"/>
          </a:xfrm>
          <a:prstGeom prst="rect">
            <a:avLst/>
          </a:prstGeom>
        </p:spPr>
      </p:pic>
    </p:spTree>
    <p:extLst>
      <p:ext uri="{BB962C8B-B14F-4D97-AF65-F5344CB8AC3E}">
        <p14:creationId xmlns:p14="http://schemas.microsoft.com/office/powerpoint/2010/main" val="718052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F0206-5085-7E72-25E4-459A861EC81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88C8F1-2ECA-563F-9FBB-C0E8A6E5BFAD}"/>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Bảng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phân</a:t>
            </a:r>
            <a:r>
              <a:rPr lang="en-US" sz="2700" dirty="0">
                <a:solidFill>
                  <a:srgbClr val="2C3F42"/>
                </a:solidFill>
                <a:latin typeface="Bitter Medium" pitchFamily="34" charset="0"/>
                <a:ea typeface="Bitter Medium" pitchFamily="34" charset="-122"/>
                <a:cs typeface="Bitter Medium" pitchFamily="34" charset="-120"/>
              </a:rPr>
              <a:t> chia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endParaRPr lang="en-US" sz="2700" dirty="0"/>
          </a:p>
        </p:txBody>
      </p:sp>
      <p:sp>
        <p:nvSpPr>
          <p:cNvPr id="4" name="Text 1">
            <a:extLst>
              <a:ext uri="{FF2B5EF4-FFF2-40B4-BE49-F238E27FC236}">
                <a16:creationId xmlns:a16="http://schemas.microsoft.com/office/drawing/2014/main" id="{06008711-515C-4CF9-F73C-F72755E12EFF}"/>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9FE0093A-F649-9765-27D9-DC680CC10FAE}"/>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6" name="Picture 5">
            <a:extLst>
              <a:ext uri="{FF2B5EF4-FFF2-40B4-BE49-F238E27FC236}">
                <a16:creationId xmlns:a16="http://schemas.microsoft.com/office/drawing/2014/main" id="{D8D170BF-C4CA-1EE5-C1DD-18998A012AC2}"/>
              </a:ext>
            </a:extLst>
          </p:cNvPr>
          <p:cNvPicPr>
            <a:picLocks noChangeAspect="1"/>
          </p:cNvPicPr>
          <p:nvPr/>
        </p:nvPicPr>
        <p:blipFill>
          <a:blip r:embed="rId3"/>
          <a:stretch>
            <a:fillRect/>
          </a:stretch>
        </p:blipFill>
        <p:spPr>
          <a:xfrm>
            <a:off x="1403068" y="1168003"/>
            <a:ext cx="11799474" cy="6581894"/>
          </a:xfrm>
          <a:prstGeom prst="rect">
            <a:avLst/>
          </a:prstGeom>
        </p:spPr>
      </p:pic>
    </p:spTree>
    <p:extLst>
      <p:ext uri="{BB962C8B-B14F-4D97-AF65-F5344CB8AC3E}">
        <p14:creationId xmlns:p14="http://schemas.microsoft.com/office/powerpoint/2010/main" val="182006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9C0B-A0CD-3C31-6385-F4569EBECC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536E3D5-9212-FC51-0C3D-5CDD36A5BC66}"/>
              </a:ext>
            </a:extLst>
          </p:cNvPr>
          <p:cNvSpPr/>
          <p:nvPr/>
        </p:nvSpPr>
        <p:spPr>
          <a:xfrm>
            <a:off x="610552" y="479703"/>
            <a:ext cx="5500316"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Bảng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tôn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chỉ</a:t>
            </a:r>
            <a:endParaRPr lang="en-US" sz="2700" dirty="0"/>
          </a:p>
        </p:txBody>
      </p:sp>
      <p:sp>
        <p:nvSpPr>
          <p:cNvPr id="4" name="Text 1">
            <a:extLst>
              <a:ext uri="{FF2B5EF4-FFF2-40B4-BE49-F238E27FC236}">
                <a16:creationId xmlns:a16="http://schemas.microsoft.com/office/drawing/2014/main" id="{6C621B23-6845-C000-362F-8E242A2F68AC}"/>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344ACAAF-20AC-8AAD-3BE7-1CE60EB0A397}"/>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6" name="Picture 5">
            <a:extLst>
              <a:ext uri="{FF2B5EF4-FFF2-40B4-BE49-F238E27FC236}">
                <a16:creationId xmlns:a16="http://schemas.microsoft.com/office/drawing/2014/main" id="{E898C8BD-7E4B-053F-7C9B-8EEAEADE5670}"/>
              </a:ext>
            </a:extLst>
          </p:cNvPr>
          <p:cNvPicPr>
            <a:picLocks noChangeAspect="1"/>
          </p:cNvPicPr>
          <p:nvPr/>
        </p:nvPicPr>
        <p:blipFill>
          <a:blip r:embed="rId3"/>
          <a:stretch>
            <a:fillRect/>
          </a:stretch>
        </p:blipFill>
        <p:spPr>
          <a:xfrm>
            <a:off x="1116937" y="1613416"/>
            <a:ext cx="12932725" cy="4190946"/>
          </a:xfrm>
          <a:prstGeom prst="rect">
            <a:avLst/>
          </a:prstGeom>
        </p:spPr>
      </p:pic>
    </p:spTree>
    <p:extLst>
      <p:ext uri="{BB962C8B-B14F-4D97-AF65-F5344CB8AC3E}">
        <p14:creationId xmlns:p14="http://schemas.microsoft.com/office/powerpoint/2010/main" val="441692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FBFB6-28E0-F89E-DB9A-DE7BC394E1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629ECEC-9299-6E9A-A027-31D47875FF2E}"/>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Thời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gian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thực</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hiện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r>
              <a:rPr lang="en-US" sz="2700" dirty="0">
                <a:solidFill>
                  <a:srgbClr val="2C3F42"/>
                </a:solidFill>
                <a:latin typeface="Bitter Medium" pitchFamily="34" charset="0"/>
                <a:ea typeface="Bitter Medium" pitchFamily="34" charset="-122"/>
                <a:cs typeface="Bitter Medium" pitchFamily="34" charset="-120"/>
              </a:rPr>
              <a:t> </a:t>
            </a:r>
            <a:endParaRPr lang="en-US" sz="2700" dirty="0"/>
          </a:p>
        </p:txBody>
      </p:sp>
      <p:sp>
        <p:nvSpPr>
          <p:cNvPr id="4" name="Text 1">
            <a:extLst>
              <a:ext uri="{FF2B5EF4-FFF2-40B4-BE49-F238E27FC236}">
                <a16:creationId xmlns:a16="http://schemas.microsoft.com/office/drawing/2014/main" id="{88D97596-D510-3B6D-E664-A8A55E4826A3}"/>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672A1F3F-8570-829A-2C85-B82C18BF6D48}"/>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9" name="Picture 8">
            <a:extLst>
              <a:ext uri="{FF2B5EF4-FFF2-40B4-BE49-F238E27FC236}">
                <a16:creationId xmlns:a16="http://schemas.microsoft.com/office/drawing/2014/main" id="{7AF5A2F3-74F2-9F3C-7AD0-94660625FA91}"/>
              </a:ext>
            </a:extLst>
          </p:cNvPr>
          <p:cNvPicPr>
            <a:picLocks noChangeAspect="1"/>
          </p:cNvPicPr>
          <p:nvPr/>
        </p:nvPicPr>
        <p:blipFill>
          <a:blip r:embed="rId3"/>
          <a:stretch>
            <a:fillRect/>
          </a:stretch>
        </p:blipFill>
        <p:spPr>
          <a:xfrm>
            <a:off x="1627961" y="915830"/>
            <a:ext cx="11140069" cy="2384932"/>
          </a:xfrm>
          <a:prstGeom prst="rect">
            <a:avLst/>
          </a:prstGeom>
        </p:spPr>
      </p:pic>
      <p:pic>
        <p:nvPicPr>
          <p:cNvPr id="11" name="Picture 10">
            <a:extLst>
              <a:ext uri="{FF2B5EF4-FFF2-40B4-BE49-F238E27FC236}">
                <a16:creationId xmlns:a16="http://schemas.microsoft.com/office/drawing/2014/main" id="{0EB142A4-A0A4-9A33-9AF1-FBCDBDF1EC95}"/>
              </a:ext>
            </a:extLst>
          </p:cNvPr>
          <p:cNvPicPr>
            <a:picLocks noChangeAspect="1"/>
          </p:cNvPicPr>
          <p:nvPr/>
        </p:nvPicPr>
        <p:blipFill>
          <a:blip r:embed="rId4"/>
          <a:stretch>
            <a:fillRect/>
          </a:stretch>
        </p:blipFill>
        <p:spPr>
          <a:xfrm>
            <a:off x="1617610" y="3300762"/>
            <a:ext cx="11150420" cy="4465102"/>
          </a:xfrm>
          <a:prstGeom prst="rect">
            <a:avLst/>
          </a:prstGeom>
        </p:spPr>
      </p:pic>
    </p:spTree>
    <p:extLst>
      <p:ext uri="{BB962C8B-B14F-4D97-AF65-F5344CB8AC3E}">
        <p14:creationId xmlns:p14="http://schemas.microsoft.com/office/powerpoint/2010/main" val="352454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7FFEB-2BE5-D85E-B090-2CA0F830711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8BE832-DDEA-90E1-E33D-DD81159179F9}"/>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Thời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gian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thực</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hiện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r>
              <a:rPr lang="en-US" sz="2700" dirty="0">
                <a:solidFill>
                  <a:srgbClr val="2C3F42"/>
                </a:solidFill>
                <a:latin typeface="Bitter Medium" pitchFamily="34" charset="0"/>
                <a:ea typeface="Bitter Medium" pitchFamily="34" charset="-122"/>
                <a:cs typeface="Bitter Medium" pitchFamily="34" charset="-120"/>
              </a:rPr>
              <a:t> </a:t>
            </a:r>
            <a:endParaRPr lang="en-US" sz="2700" dirty="0"/>
          </a:p>
        </p:txBody>
      </p:sp>
      <p:sp>
        <p:nvSpPr>
          <p:cNvPr id="4" name="Text 1">
            <a:extLst>
              <a:ext uri="{FF2B5EF4-FFF2-40B4-BE49-F238E27FC236}">
                <a16:creationId xmlns:a16="http://schemas.microsoft.com/office/drawing/2014/main" id="{7E196FBE-C5F0-EE23-C7E7-5061A6ACCDF0}"/>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1FE44810-232E-69D2-DA44-955945DA99AA}"/>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6" name="Picture 5">
            <a:extLst>
              <a:ext uri="{FF2B5EF4-FFF2-40B4-BE49-F238E27FC236}">
                <a16:creationId xmlns:a16="http://schemas.microsoft.com/office/drawing/2014/main" id="{C354502F-3D81-86B9-D327-927A6BD5E21A}"/>
              </a:ext>
            </a:extLst>
          </p:cNvPr>
          <p:cNvPicPr>
            <a:picLocks noChangeAspect="1"/>
          </p:cNvPicPr>
          <p:nvPr/>
        </p:nvPicPr>
        <p:blipFill>
          <a:blip r:embed="rId3"/>
          <a:stretch>
            <a:fillRect/>
          </a:stretch>
        </p:blipFill>
        <p:spPr>
          <a:xfrm>
            <a:off x="625553" y="1613416"/>
            <a:ext cx="13409295" cy="2202850"/>
          </a:xfrm>
          <a:prstGeom prst="rect">
            <a:avLst/>
          </a:prstGeom>
        </p:spPr>
      </p:pic>
      <p:pic>
        <p:nvPicPr>
          <p:cNvPr id="9" name="Picture 8">
            <a:extLst>
              <a:ext uri="{FF2B5EF4-FFF2-40B4-BE49-F238E27FC236}">
                <a16:creationId xmlns:a16="http://schemas.microsoft.com/office/drawing/2014/main" id="{59ED264D-93DA-0134-EF9C-1CD6E8F69051}"/>
              </a:ext>
            </a:extLst>
          </p:cNvPr>
          <p:cNvPicPr>
            <a:picLocks noChangeAspect="1"/>
          </p:cNvPicPr>
          <p:nvPr/>
        </p:nvPicPr>
        <p:blipFill>
          <a:blip r:embed="rId4"/>
          <a:stretch>
            <a:fillRect/>
          </a:stretch>
        </p:blipFill>
        <p:spPr>
          <a:xfrm>
            <a:off x="633053" y="3816266"/>
            <a:ext cx="13401795" cy="1452047"/>
          </a:xfrm>
          <a:prstGeom prst="rect">
            <a:avLst/>
          </a:prstGeom>
        </p:spPr>
      </p:pic>
    </p:spTree>
    <p:extLst>
      <p:ext uri="{BB962C8B-B14F-4D97-AF65-F5344CB8AC3E}">
        <p14:creationId xmlns:p14="http://schemas.microsoft.com/office/powerpoint/2010/main" val="2226926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14391-28B6-0C29-3AED-7955CFCCD6E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13FEBC7-0472-38F2-35B8-81E365C2BCEE}"/>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Thời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gian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thực</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hiện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r>
              <a:rPr lang="en-US" sz="2700" dirty="0">
                <a:solidFill>
                  <a:srgbClr val="2C3F42"/>
                </a:solidFill>
                <a:latin typeface="Bitter Medium" pitchFamily="34" charset="0"/>
                <a:ea typeface="Bitter Medium" pitchFamily="34" charset="-122"/>
                <a:cs typeface="Bitter Medium" pitchFamily="34" charset="-120"/>
              </a:rPr>
              <a:t> </a:t>
            </a:r>
            <a:endParaRPr lang="en-US" sz="2700" dirty="0"/>
          </a:p>
        </p:txBody>
      </p:sp>
      <p:sp>
        <p:nvSpPr>
          <p:cNvPr id="4" name="Text 1">
            <a:extLst>
              <a:ext uri="{FF2B5EF4-FFF2-40B4-BE49-F238E27FC236}">
                <a16:creationId xmlns:a16="http://schemas.microsoft.com/office/drawing/2014/main" id="{5B956ED7-C309-DDB2-8566-1074FFBF6B7A}"/>
              </a:ext>
            </a:extLst>
          </p:cNvPr>
          <p:cNvSpPr/>
          <p:nvPr/>
        </p:nvSpPr>
        <p:spPr>
          <a:xfrm>
            <a:off x="12377737" y="1334333"/>
            <a:ext cx="1649611" cy="279083"/>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2">
            <a:extLst>
              <a:ext uri="{FF2B5EF4-FFF2-40B4-BE49-F238E27FC236}">
                <a16:creationId xmlns:a16="http://schemas.microsoft.com/office/drawing/2014/main" id="{0D36A351-21A8-4198-E57E-05EC28396DB9}"/>
              </a:ext>
            </a:extLst>
          </p:cNvPr>
          <p:cNvSpPr/>
          <p:nvPr/>
        </p:nvSpPr>
        <p:spPr>
          <a:xfrm>
            <a:off x="610552" y="7970163"/>
            <a:ext cx="13409295" cy="279083"/>
          </a:xfrm>
          <a:prstGeom prst="rect">
            <a:avLst/>
          </a:prstGeom>
          <a:noFill/>
          <a:ln/>
        </p:spPr>
        <p:txBody>
          <a:bodyPr wrap="none" lIns="0" tIns="0" rIns="0" bIns="0" rtlCol="0" anchor="t"/>
          <a:lstStyle/>
          <a:p>
            <a:pPr marL="0" indent="0" algn="l">
              <a:lnSpc>
                <a:spcPts val="2150"/>
              </a:lnSpc>
              <a:buNone/>
            </a:pPr>
            <a:endParaRPr lang="en-US" sz="1350" dirty="0"/>
          </a:p>
        </p:txBody>
      </p:sp>
      <p:pic>
        <p:nvPicPr>
          <p:cNvPr id="6" name="Picture 5">
            <a:extLst>
              <a:ext uri="{FF2B5EF4-FFF2-40B4-BE49-F238E27FC236}">
                <a16:creationId xmlns:a16="http://schemas.microsoft.com/office/drawing/2014/main" id="{09FBD73C-CBF3-439D-52C8-EFC260934CA7}"/>
              </a:ext>
            </a:extLst>
          </p:cNvPr>
          <p:cNvPicPr>
            <a:picLocks noChangeAspect="1"/>
          </p:cNvPicPr>
          <p:nvPr/>
        </p:nvPicPr>
        <p:blipFill>
          <a:blip r:embed="rId3"/>
          <a:stretch>
            <a:fillRect/>
          </a:stretch>
        </p:blipFill>
        <p:spPr>
          <a:xfrm>
            <a:off x="390290" y="999279"/>
            <a:ext cx="13849815" cy="3472164"/>
          </a:xfrm>
          <a:prstGeom prst="rect">
            <a:avLst/>
          </a:prstGeom>
        </p:spPr>
      </p:pic>
      <p:pic>
        <p:nvPicPr>
          <p:cNvPr id="9" name="Picture 8">
            <a:extLst>
              <a:ext uri="{FF2B5EF4-FFF2-40B4-BE49-F238E27FC236}">
                <a16:creationId xmlns:a16="http://schemas.microsoft.com/office/drawing/2014/main" id="{2DA7F834-1DCF-1D2B-D7FB-C1B94032C0B7}"/>
              </a:ext>
            </a:extLst>
          </p:cNvPr>
          <p:cNvPicPr>
            <a:picLocks noChangeAspect="1"/>
          </p:cNvPicPr>
          <p:nvPr/>
        </p:nvPicPr>
        <p:blipFill>
          <a:blip r:embed="rId4"/>
          <a:stretch>
            <a:fillRect/>
          </a:stretch>
        </p:blipFill>
        <p:spPr>
          <a:xfrm>
            <a:off x="390289" y="4471443"/>
            <a:ext cx="13849815" cy="3207167"/>
          </a:xfrm>
          <a:prstGeom prst="rect">
            <a:avLst/>
          </a:prstGeom>
        </p:spPr>
      </p:pic>
    </p:spTree>
    <p:extLst>
      <p:ext uri="{BB962C8B-B14F-4D97-AF65-F5344CB8AC3E}">
        <p14:creationId xmlns:p14="http://schemas.microsoft.com/office/powerpoint/2010/main" val="197591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9AC1CE67-3EA8-4C68-BEAB-EBC392BE0875}"/>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Thời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gian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thực</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hiện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công</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việc</a:t>
            </a:r>
            <a:r>
              <a:rPr lang="en-US" sz="2700" dirty="0">
                <a:solidFill>
                  <a:srgbClr val="2C3F42"/>
                </a:solidFill>
                <a:latin typeface="Bitter Medium" pitchFamily="34" charset="0"/>
                <a:ea typeface="Bitter Medium" pitchFamily="34" charset="-122"/>
                <a:cs typeface="Bitter Medium" pitchFamily="34" charset="-120"/>
              </a:rPr>
              <a:t> </a:t>
            </a:r>
            <a:endParaRPr lang="en-US" sz="2700" dirty="0"/>
          </a:p>
        </p:txBody>
      </p:sp>
      <p:pic>
        <p:nvPicPr>
          <p:cNvPr id="6" name="Picture 5">
            <a:extLst>
              <a:ext uri="{FF2B5EF4-FFF2-40B4-BE49-F238E27FC236}">
                <a16:creationId xmlns:a16="http://schemas.microsoft.com/office/drawing/2014/main" id="{623CCEEC-5E63-4A9A-B1A2-97731F1034A5}"/>
              </a:ext>
            </a:extLst>
          </p:cNvPr>
          <p:cNvPicPr>
            <a:picLocks noChangeAspect="1"/>
          </p:cNvPicPr>
          <p:nvPr/>
        </p:nvPicPr>
        <p:blipFill>
          <a:blip r:embed="rId2"/>
          <a:stretch>
            <a:fillRect/>
          </a:stretch>
        </p:blipFill>
        <p:spPr>
          <a:xfrm>
            <a:off x="1851113" y="1092649"/>
            <a:ext cx="10928173" cy="3790903"/>
          </a:xfrm>
          <a:prstGeom prst="rect">
            <a:avLst/>
          </a:prstGeom>
        </p:spPr>
      </p:pic>
    </p:spTree>
    <p:extLst>
      <p:ext uri="{BB962C8B-B14F-4D97-AF65-F5344CB8AC3E}">
        <p14:creationId xmlns:p14="http://schemas.microsoft.com/office/powerpoint/2010/main" val="1964339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E504A9D-6F84-4324-BB0E-A17A3B81E45A}"/>
              </a:ext>
            </a:extLst>
          </p:cNvPr>
          <p:cNvSpPr/>
          <p:nvPr/>
        </p:nvSpPr>
        <p:spPr>
          <a:xfrm>
            <a:off x="610552" y="479703"/>
            <a:ext cx="3563898" cy="436126"/>
          </a:xfrm>
          <a:prstGeom prst="rect">
            <a:avLst/>
          </a:prstGeom>
          <a:noFill/>
          <a:ln/>
        </p:spPr>
        <p:txBody>
          <a:bodyPr wrap="none" lIns="0" tIns="0" rIns="0" bIns="0" rtlCol="0" anchor="t"/>
          <a:lstStyle/>
          <a:p>
            <a:pPr marL="0" indent="0" algn="l">
              <a:lnSpc>
                <a:spcPts val="3400"/>
              </a:lnSpc>
              <a:buNone/>
            </a:pPr>
            <a:r>
              <a:rPr lang="en-US" sz="2700" dirty="0">
                <a:solidFill>
                  <a:srgbClr val="2C3F42"/>
                </a:solidFill>
                <a:latin typeface="Bitter Medium" pitchFamily="34" charset="0"/>
                <a:ea typeface="Bitter Medium" pitchFamily="34" charset="-122"/>
                <a:cs typeface="Bitter Medium" pitchFamily="34" charset="-120"/>
              </a:rPr>
              <a:t>02. </a:t>
            </a:r>
            <a:r>
              <a:rPr lang="en-US" sz="2700" dirty="0" err="1">
                <a:solidFill>
                  <a:srgbClr val="2C3F42"/>
                </a:solidFill>
                <a:latin typeface="Bitter Medium" pitchFamily="34" charset="0"/>
                <a:ea typeface="Bitter Medium" pitchFamily="34" charset="-122"/>
                <a:cs typeface="Bitter Medium" pitchFamily="34" charset="-120"/>
              </a:rPr>
              <a:t>Thời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gian</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hồi</a:t>
            </a:r>
            <a:r>
              <a:rPr lang="en-US" sz="2700" dirty="0">
                <a:solidFill>
                  <a:srgbClr val="2C3F42"/>
                </a:solidFill>
                <a:latin typeface="Bitter Medium" pitchFamily="34" charset="0"/>
                <a:ea typeface="Bitter Medium" pitchFamily="34" charset="-122"/>
                <a:cs typeface="Bitter Medium" pitchFamily="34" charset="-120"/>
              </a:rPr>
              <a:t> </a:t>
            </a:r>
            <a:r>
              <a:rPr lang="en-US" sz="2700" dirty="0" err="1">
                <a:solidFill>
                  <a:srgbClr val="2C3F42"/>
                </a:solidFill>
                <a:latin typeface="Bitter Medium" pitchFamily="34" charset="0"/>
                <a:ea typeface="Bitter Medium" pitchFamily="34" charset="-122"/>
                <a:cs typeface="Bitter Medium" pitchFamily="34" charset="-120"/>
              </a:rPr>
              <a:t>vốn</a:t>
            </a:r>
            <a:endParaRPr lang="en-US" sz="2700" dirty="0">
              <a:solidFill>
                <a:srgbClr val="2C3F42"/>
              </a:solidFill>
              <a:latin typeface="Bitter Medium" pitchFamily="34" charset="0"/>
              <a:ea typeface="Bitter Medium" pitchFamily="34" charset="-122"/>
              <a:cs typeface="Bitter Medium" pitchFamily="34" charset="-120"/>
            </a:endParaRPr>
          </a:p>
          <a:p>
            <a:pPr marL="0" indent="0" algn="l">
              <a:lnSpc>
                <a:spcPts val="3400"/>
              </a:lnSpc>
              <a:buNone/>
            </a:pPr>
            <a:endParaRPr lang="en-US" sz="2700" dirty="0"/>
          </a:p>
        </p:txBody>
      </p:sp>
      <p:pic>
        <p:nvPicPr>
          <p:cNvPr id="6" name="Picture 5">
            <a:extLst>
              <a:ext uri="{FF2B5EF4-FFF2-40B4-BE49-F238E27FC236}">
                <a16:creationId xmlns:a16="http://schemas.microsoft.com/office/drawing/2014/main" id="{4FB74CDB-3236-4D03-A234-2FBB9F935205}"/>
              </a:ext>
            </a:extLst>
          </p:cNvPr>
          <p:cNvPicPr>
            <a:picLocks noChangeAspect="1"/>
          </p:cNvPicPr>
          <p:nvPr/>
        </p:nvPicPr>
        <p:blipFill>
          <a:blip r:embed="rId2"/>
          <a:stretch>
            <a:fillRect/>
          </a:stretch>
        </p:blipFill>
        <p:spPr>
          <a:xfrm>
            <a:off x="2512137" y="1166401"/>
            <a:ext cx="9606125" cy="6181072"/>
          </a:xfrm>
          <a:prstGeom prst="rect">
            <a:avLst/>
          </a:prstGeom>
        </p:spPr>
      </p:pic>
    </p:spTree>
    <p:extLst>
      <p:ext uri="{BB962C8B-B14F-4D97-AF65-F5344CB8AC3E}">
        <p14:creationId xmlns:p14="http://schemas.microsoft.com/office/powerpoint/2010/main" val="161574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36144"/>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pic>
        <p:nvPicPr>
          <p:cNvPr id="3" name="Image 0" descr="preencoded.png"/>
          <p:cNvPicPr>
            <a:picLocks noChangeAspect="1"/>
          </p:cNvPicPr>
          <p:nvPr/>
        </p:nvPicPr>
        <p:blipFill>
          <a:blip r:embed="rId3"/>
          <a:stretch>
            <a:fillRect/>
          </a:stretch>
        </p:blipFill>
        <p:spPr>
          <a:xfrm>
            <a:off x="446854" y="2698433"/>
            <a:ext cx="6591645" cy="3345528"/>
          </a:xfrm>
          <a:prstGeom prst="rect">
            <a:avLst/>
          </a:prstGeom>
        </p:spPr>
      </p:pic>
      <p:pic>
        <p:nvPicPr>
          <p:cNvPr id="4" name="Image 1" descr="preencoded.png"/>
          <p:cNvPicPr>
            <a:picLocks noChangeAspect="1"/>
          </p:cNvPicPr>
          <p:nvPr/>
        </p:nvPicPr>
        <p:blipFill>
          <a:blip r:embed="rId4"/>
          <a:stretch>
            <a:fillRect/>
          </a:stretch>
        </p:blipFill>
        <p:spPr>
          <a:xfrm>
            <a:off x="7599521" y="2698432"/>
            <a:ext cx="6584716" cy="3345527"/>
          </a:xfrm>
          <a:prstGeom prst="rect">
            <a:avLst/>
          </a:prstGeom>
        </p:spPr>
      </p:pic>
      <p:sp>
        <p:nvSpPr>
          <p:cNvPr id="5" name="Text 1"/>
          <p:cNvSpPr/>
          <p:nvPr/>
        </p:nvSpPr>
        <p:spPr>
          <a:xfrm>
            <a:off x="7599521" y="6126361"/>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531263"/>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pic>
        <p:nvPicPr>
          <p:cNvPr id="3" name="Image 0" descr="preencoded.png"/>
          <p:cNvPicPr>
            <a:picLocks noChangeAspect="1"/>
          </p:cNvPicPr>
          <p:nvPr/>
        </p:nvPicPr>
        <p:blipFill>
          <a:blip r:embed="rId3"/>
          <a:stretch>
            <a:fillRect/>
          </a:stretch>
        </p:blipFill>
        <p:spPr>
          <a:xfrm>
            <a:off x="496514" y="2693551"/>
            <a:ext cx="6541986" cy="3316956"/>
          </a:xfrm>
          <a:prstGeom prst="rect">
            <a:avLst/>
          </a:prstGeom>
        </p:spPr>
      </p:pic>
      <p:sp>
        <p:nvSpPr>
          <p:cNvPr id="4" name="Text 1"/>
          <p:cNvSpPr/>
          <p:nvPr/>
        </p:nvSpPr>
        <p:spPr>
          <a:xfrm>
            <a:off x="793790" y="6114931"/>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5" name="Image 1" descr="preencoded.png"/>
          <p:cNvPicPr>
            <a:picLocks noChangeAspect="1"/>
          </p:cNvPicPr>
          <p:nvPr/>
        </p:nvPicPr>
        <p:blipFill>
          <a:blip r:embed="rId4"/>
          <a:stretch>
            <a:fillRect/>
          </a:stretch>
        </p:blipFill>
        <p:spPr>
          <a:xfrm>
            <a:off x="7599521" y="2693551"/>
            <a:ext cx="6508455" cy="3316956"/>
          </a:xfrm>
          <a:prstGeom prst="rect">
            <a:avLst/>
          </a:prstGeom>
        </p:spPr>
      </p:pic>
      <p:sp>
        <p:nvSpPr>
          <p:cNvPr id="6" name="Text 2"/>
          <p:cNvSpPr/>
          <p:nvPr/>
        </p:nvSpPr>
        <p:spPr>
          <a:xfrm>
            <a:off x="7599521" y="6131242"/>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529715"/>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pic>
        <p:nvPicPr>
          <p:cNvPr id="3" name="Image 0" descr="preencoded.png"/>
          <p:cNvPicPr>
            <a:picLocks noChangeAspect="1"/>
          </p:cNvPicPr>
          <p:nvPr/>
        </p:nvPicPr>
        <p:blipFill>
          <a:blip r:embed="rId3"/>
          <a:stretch>
            <a:fillRect/>
          </a:stretch>
        </p:blipFill>
        <p:spPr>
          <a:xfrm>
            <a:off x="468352" y="2692003"/>
            <a:ext cx="6570148" cy="3327852"/>
          </a:xfrm>
          <a:prstGeom prst="rect">
            <a:avLst/>
          </a:prstGeom>
        </p:spPr>
      </p:pic>
      <p:sp>
        <p:nvSpPr>
          <p:cNvPr id="4" name="Text 1"/>
          <p:cNvSpPr/>
          <p:nvPr/>
        </p:nvSpPr>
        <p:spPr>
          <a:xfrm>
            <a:off x="793790" y="611016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5" name="Image 1" descr="preencoded.png"/>
          <p:cNvPicPr>
            <a:picLocks noChangeAspect="1"/>
          </p:cNvPicPr>
          <p:nvPr/>
        </p:nvPicPr>
        <p:blipFill>
          <a:blip r:embed="rId4"/>
          <a:stretch>
            <a:fillRect/>
          </a:stretch>
        </p:blipFill>
        <p:spPr>
          <a:xfrm>
            <a:off x="7599521" y="2692003"/>
            <a:ext cx="6523247" cy="3327852"/>
          </a:xfrm>
          <a:prstGeom prst="rect">
            <a:avLst/>
          </a:prstGeom>
        </p:spPr>
      </p:pic>
      <p:sp>
        <p:nvSpPr>
          <p:cNvPr id="6" name="Text 2"/>
          <p:cNvSpPr/>
          <p:nvPr/>
        </p:nvSpPr>
        <p:spPr>
          <a:xfrm>
            <a:off x="7599521" y="6132909"/>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53459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pic>
        <p:nvPicPr>
          <p:cNvPr id="3" name="Image 0" descr="preencoded.png"/>
          <p:cNvPicPr>
            <a:picLocks noChangeAspect="1"/>
          </p:cNvPicPr>
          <p:nvPr/>
        </p:nvPicPr>
        <p:blipFill>
          <a:blip r:embed="rId3"/>
          <a:stretch>
            <a:fillRect/>
          </a:stretch>
        </p:blipFill>
        <p:spPr>
          <a:xfrm>
            <a:off x="292106" y="2696884"/>
            <a:ext cx="6746393" cy="3431143"/>
          </a:xfrm>
          <a:prstGeom prst="rect">
            <a:avLst/>
          </a:prstGeom>
        </p:spPr>
      </p:pic>
      <p:sp>
        <p:nvSpPr>
          <p:cNvPr id="4" name="Text 1"/>
          <p:cNvSpPr/>
          <p:nvPr/>
        </p:nvSpPr>
        <p:spPr>
          <a:xfrm>
            <a:off x="793790" y="612802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5" name="Image 1" descr="preencoded.png"/>
          <p:cNvPicPr>
            <a:picLocks noChangeAspect="1"/>
          </p:cNvPicPr>
          <p:nvPr/>
        </p:nvPicPr>
        <p:blipFill>
          <a:blip r:embed="rId4"/>
          <a:stretch>
            <a:fillRect/>
          </a:stretch>
        </p:blipFill>
        <p:spPr>
          <a:xfrm>
            <a:off x="7599521" y="2696885"/>
            <a:ext cx="6784543" cy="3431143"/>
          </a:xfrm>
          <a:prstGeom prst="rect">
            <a:avLst/>
          </a:prstGeom>
        </p:spPr>
      </p:pic>
      <p:sp>
        <p:nvSpPr>
          <p:cNvPr id="6" name="Text 2"/>
          <p:cNvSpPr/>
          <p:nvPr/>
        </p:nvSpPr>
        <p:spPr>
          <a:xfrm>
            <a:off x="7599521" y="611016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0F53-700F-4039-49AB-02C7AF90BBF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47C10D-860E-AE1D-CC50-FFD9EA4C1047}"/>
              </a:ext>
            </a:extLst>
          </p:cNvPr>
          <p:cNvSpPr/>
          <p:nvPr/>
        </p:nvSpPr>
        <p:spPr>
          <a:xfrm>
            <a:off x="793790" y="153459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sp>
        <p:nvSpPr>
          <p:cNvPr id="4" name="Text 1">
            <a:extLst>
              <a:ext uri="{FF2B5EF4-FFF2-40B4-BE49-F238E27FC236}">
                <a16:creationId xmlns:a16="http://schemas.microsoft.com/office/drawing/2014/main" id="{62005847-7D93-94B4-BE52-2CAD3BD21926}"/>
              </a:ext>
            </a:extLst>
          </p:cNvPr>
          <p:cNvSpPr/>
          <p:nvPr/>
        </p:nvSpPr>
        <p:spPr>
          <a:xfrm>
            <a:off x="793790" y="612802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2">
            <a:extLst>
              <a:ext uri="{FF2B5EF4-FFF2-40B4-BE49-F238E27FC236}">
                <a16:creationId xmlns:a16="http://schemas.microsoft.com/office/drawing/2014/main" id="{1EAF625E-11A9-9256-A0E6-1FFAD5A7589E}"/>
              </a:ext>
            </a:extLst>
          </p:cNvPr>
          <p:cNvSpPr/>
          <p:nvPr/>
        </p:nvSpPr>
        <p:spPr>
          <a:xfrm>
            <a:off x="7599521" y="611016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10" name="Picture 9">
            <a:extLst>
              <a:ext uri="{FF2B5EF4-FFF2-40B4-BE49-F238E27FC236}">
                <a16:creationId xmlns:a16="http://schemas.microsoft.com/office/drawing/2014/main" id="{E4850B76-2C47-5B63-A66D-ACE8BC9D0982}"/>
              </a:ext>
            </a:extLst>
          </p:cNvPr>
          <p:cNvPicPr>
            <a:picLocks noChangeAspect="1"/>
          </p:cNvPicPr>
          <p:nvPr/>
        </p:nvPicPr>
        <p:blipFill>
          <a:blip r:embed="rId3"/>
          <a:stretch>
            <a:fillRect/>
          </a:stretch>
        </p:blipFill>
        <p:spPr>
          <a:xfrm>
            <a:off x="569165" y="2696885"/>
            <a:ext cx="6746035" cy="3431143"/>
          </a:xfrm>
          <a:prstGeom prst="rect">
            <a:avLst/>
          </a:prstGeom>
        </p:spPr>
      </p:pic>
      <p:pic>
        <p:nvPicPr>
          <p:cNvPr id="12" name="Picture 11">
            <a:extLst>
              <a:ext uri="{FF2B5EF4-FFF2-40B4-BE49-F238E27FC236}">
                <a16:creationId xmlns:a16="http://schemas.microsoft.com/office/drawing/2014/main" id="{2ADCC93B-5242-191C-326B-6520F807B6FD}"/>
              </a:ext>
            </a:extLst>
          </p:cNvPr>
          <p:cNvPicPr>
            <a:picLocks noChangeAspect="1"/>
          </p:cNvPicPr>
          <p:nvPr/>
        </p:nvPicPr>
        <p:blipFill>
          <a:blip r:embed="rId4"/>
          <a:stretch>
            <a:fillRect/>
          </a:stretch>
        </p:blipFill>
        <p:spPr>
          <a:xfrm>
            <a:off x="7772400" y="2696884"/>
            <a:ext cx="6718044" cy="3413284"/>
          </a:xfrm>
          <a:prstGeom prst="rect">
            <a:avLst/>
          </a:prstGeom>
        </p:spPr>
      </p:pic>
    </p:spTree>
    <p:extLst>
      <p:ext uri="{BB962C8B-B14F-4D97-AF65-F5344CB8AC3E}">
        <p14:creationId xmlns:p14="http://schemas.microsoft.com/office/powerpoint/2010/main" val="3703181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D2808-1AB5-860B-D1C5-7E03383075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0DDD2D9-C67C-4D11-DC5B-21455606F0D4}"/>
              </a:ext>
            </a:extLst>
          </p:cNvPr>
          <p:cNvSpPr/>
          <p:nvPr/>
        </p:nvSpPr>
        <p:spPr>
          <a:xfrm>
            <a:off x="793790" y="153459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03. Các chức năng</a:t>
            </a:r>
            <a:endParaRPr lang="en-US" sz="3550" dirty="0"/>
          </a:p>
        </p:txBody>
      </p:sp>
      <p:sp>
        <p:nvSpPr>
          <p:cNvPr id="4" name="Text 1">
            <a:extLst>
              <a:ext uri="{FF2B5EF4-FFF2-40B4-BE49-F238E27FC236}">
                <a16:creationId xmlns:a16="http://schemas.microsoft.com/office/drawing/2014/main" id="{B3CF8F84-5C11-1072-005A-08591BF30752}"/>
              </a:ext>
            </a:extLst>
          </p:cNvPr>
          <p:cNvSpPr/>
          <p:nvPr/>
        </p:nvSpPr>
        <p:spPr>
          <a:xfrm>
            <a:off x="793790" y="612802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 2">
            <a:extLst>
              <a:ext uri="{FF2B5EF4-FFF2-40B4-BE49-F238E27FC236}">
                <a16:creationId xmlns:a16="http://schemas.microsoft.com/office/drawing/2014/main" id="{5028AE3A-67EC-65C0-14F2-4D726D43CDC5}"/>
              </a:ext>
            </a:extLst>
          </p:cNvPr>
          <p:cNvSpPr/>
          <p:nvPr/>
        </p:nvSpPr>
        <p:spPr>
          <a:xfrm>
            <a:off x="7599521" y="6110168"/>
            <a:ext cx="6244709"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5" name="Picture 4">
            <a:extLst>
              <a:ext uri="{FF2B5EF4-FFF2-40B4-BE49-F238E27FC236}">
                <a16:creationId xmlns:a16="http://schemas.microsoft.com/office/drawing/2014/main" id="{DBD3DE82-93F8-8AD2-797C-AB05D62823C6}"/>
              </a:ext>
            </a:extLst>
          </p:cNvPr>
          <p:cNvPicPr>
            <a:picLocks noChangeAspect="1"/>
          </p:cNvPicPr>
          <p:nvPr/>
        </p:nvPicPr>
        <p:blipFill>
          <a:blip r:embed="rId3"/>
          <a:stretch>
            <a:fillRect/>
          </a:stretch>
        </p:blipFill>
        <p:spPr>
          <a:xfrm>
            <a:off x="1929160" y="2406510"/>
            <a:ext cx="9836283" cy="5075957"/>
          </a:xfrm>
          <a:prstGeom prst="rect">
            <a:avLst/>
          </a:prstGeom>
        </p:spPr>
      </p:pic>
    </p:spTree>
    <p:extLst>
      <p:ext uri="{BB962C8B-B14F-4D97-AF65-F5344CB8AC3E}">
        <p14:creationId xmlns:p14="http://schemas.microsoft.com/office/powerpoint/2010/main" val="3346414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327564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04. Demo</a:t>
            </a:r>
            <a:endParaRPr lang="en-US" sz="3550" dirty="0"/>
          </a:p>
        </p:txBody>
      </p:sp>
      <p:sp>
        <p:nvSpPr>
          <p:cNvPr id="3" name="Text 1"/>
          <p:cNvSpPr/>
          <p:nvPr/>
        </p:nvSpPr>
        <p:spPr>
          <a:xfrm>
            <a:off x="793790" y="4386858"/>
            <a:ext cx="7604284"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2"/>
          <p:cNvSpPr/>
          <p:nvPr/>
        </p:nvSpPr>
        <p:spPr>
          <a:xfrm>
            <a:off x="8959096" y="4386858"/>
            <a:ext cx="4885015"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451372"/>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2C3F42"/>
                </a:solidFill>
                <a:latin typeface="Bitter Medium" pitchFamily="34" charset="0"/>
                <a:ea typeface="Bitter Medium" pitchFamily="34" charset="-122"/>
                <a:cs typeface="Bitter Medium" pitchFamily="34" charset="-120"/>
              </a:rPr>
              <a:t>04. Kết luận</a:t>
            </a:r>
            <a:endParaRPr lang="en-US" sz="3550" dirty="0"/>
          </a:p>
        </p:txBody>
      </p:sp>
      <p:sp>
        <p:nvSpPr>
          <p:cNvPr id="3" name="Text 1"/>
          <p:cNvSpPr/>
          <p:nvPr/>
        </p:nvSpPr>
        <p:spPr>
          <a:xfrm>
            <a:off x="793790" y="2310451"/>
            <a:ext cx="7681137" cy="3629025"/>
          </a:xfrm>
          <a:prstGeom prst="rect">
            <a:avLst/>
          </a:prstGeom>
          <a:noFill/>
          <a:ln/>
        </p:spPr>
        <p:txBody>
          <a:bodyPr wrap="square" lIns="0" tIns="0" rIns="0" bIns="0" rtlCol="0" anchor="t"/>
          <a:lstStyle/>
          <a:p>
            <a:pPr marL="0" indent="0" algn="l">
              <a:lnSpc>
                <a:spcPts val="2850"/>
              </a:lnSpc>
              <a:buNone/>
            </a:pPr>
            <a:r>
              <a:rPr lang="en-US" sz="1750" dirty="0">
                <a:solidFill>
                  <a:srgbClr val="2B2E3C"/>
                </a:solidFill>
                <a:latin typeface="Open Sans" pitchFamily="34" charset="0"/>
                <a:ea typeface="Open Sans" pitchFamily="34" charset="-122"/>
                <a:cs typeface="Open Sans" pitchFamily="34" charset="-120"/>
              </a:rPr>
              <a:t>Xây dựng thành công một hệ thống đặt vé xe trực tuyến hoàn chỉnh sử dụng Spring Boot và React (với Material UI). Hệ thống bao gồm 2 vai trò:  Người dùng có thể đăng ký (xác thực bằng OTP qua email), đăng nhập, đặt vé, xem lịch sử (đã đặt/hủy/chờ), hủy vé và gửi đánh giá; và Quản trị viên có thể quản lý toàn bộ dữ liệu hệ </a:t>
            </a:r>
            <a:r>
              <a:rPr lang="en-US" sz="1750" dirty="0" err="1">
                <a:solidFill>
                  <a:srgbClr val="2B2E3C"/>
                </a:solidFill>
                <a:latin typeface="Open Sans" pitchFamily="34" charset="0"/>
                <a:ea typeface="Open Sans" pitchFamily="34" charset="-122"/>
                <a:cs typeface="Open Sans" pitchFamily="34" charset="-120"/>
              </a:rPr>
              <a:t>thống</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Người</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dùng</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phương</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tiện</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chuyến</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đi</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tuyến</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đường</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đặt</a:t>
            </a:r>
            <a:r>
              <a:rPr lang="en-US" sz="1750" dirty="0">
                <a:solidFill>
                  <a:srgbClr val="2B2E3C"/>
                </a:solidFill>
                <a:latin typeface="Open Sans" pitchFamily="34" charset="0"/>
                <a:ea typeface="Open Sans" pitchFamily="34" charset="-122"/>
                <a:cs typeface="Open Sans" pitchFamily="34" charset="-120"/>
              </a:rPr>
              <a:t> </a:t>
            </a:r>
            <a:r>
              <a:rPr lang="en-US" sz="1750" dirty="0" err="1">
                <a:solidFill>
                  <a:srgbClr val="2B2E3C"/>
                </a:solidFill>
                <a:latin typeface="Open Sans" pitchFamily="34" charset="0"/>
                <a:ea typeface="Open Sans" pitchFamily="34" charset="-122"/>
                <a:cs typeface="Open Sans" pitchFamily="34" charset="-120"/>
              </a:rPr>
              <a:t>chổ</a:t>
            </a:r>
            <a:r>
              <a:rPr lang="en-US" sz="1750" dirty="0">
                <a:solidFill>
                  <a:srgbClr val="2B2E3C"/>
                </a:solidFill>
                <a:latin typeface="Open Sans" pitchFamily="34" charset="0"/>
                <a:ea typeface="Open Sans" pitchFamily="34" charset="-122"/>
                <a:cs typeface="Open Sans" pitchFamily="34" charset="-120"/>
              </a:rPr>
              <a:t>). Chức năng cốt lõi là luồng đặt vé linh hoạt, hỗ trợ cả Thanh toán Tiền mặt (xác nhận ngay qua email) và Thanh toán MoMo (sử dụng Payment Gateway chuyển hướng và webhook IPN để tự động xác nhận vé và gửi email).</a:t>
            </a:r>
            <a:endParaRPr lang="en-US" sz="1750" dirty="0"/>
          </a:p>
        </p:txBody>
      </p:sp>
      <p:pic>
        <p:nvPicPr>
          <p:cNvPr id="4" name="Image 0" descr="preencoded.png"/>
          <p:cNvPicPr>
            <a:picLocks noChangeAspect="1"/>
          </p:cNvPicPr>
          <p:nvPr/>
        </p:nvPicPr>
        <p:blipFill>
          <a:blip r:embed="rId3"/>
          <a:stretch>
            <a:fillRect/>
          </a:stretch>
        </p:blipFill>
        <p:spPr>
          <a:xfrm>
            <a:off x="8555444" y="2305549"/>
            <a:ext cx="5288668" cy="3618501"/>
          </a:xfrm>
          <a:prstGeom prst="rect">
            <a:avLst/>
          </a:prstGeom>
        </p:spPr>
      </p:pic>
      <p:sp>
        <p:nvSpPr>
          <p:cNvPr id="5" name="Text 2"/>
          <p:cNvSpPr/>
          <p:nvPr/>
        </p:nvSpPr>
        <p:spPr>
          <a:xfrm>
            <a:off x="8959096" y="6211133"/>
            <a:ext cx="4885015"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407</Words>
  <Application>Microsoft Office PowerPoint</Application>
  <PresentationFormat>Custom</PresentationFormat>
  <Paragraphs>60</Paragraphs>
  <Slides>21</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Open Sans</vt:lpstr>
      <vt:lpstr>Calibri</vt:lpstr>
      <vt:lpstr>Bitter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Khoa Đặng</dc:creator>
  <cp:lastModifiedBy>dangkhoa18052004qni@gmail.com</cp:lastModifiedBy>
  <cp:revision>14</cp:revision>
  <dcterms:created xsi:type="dcterms:W3CDTF">2025-10-26T16:37:40Z</dcterms:created>
  <dcterms:modified xsi:type="dcterms:W3CDTF">2025-12-05T03:14:01Z</dcterms:modified>
</cp:coreProperties>
</file>